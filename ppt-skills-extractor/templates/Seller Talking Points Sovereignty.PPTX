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Lst>
  <p:sldSz cy="9144000" cx="6858000"/>
  <p:notesSz cx="6858000" cy="9144000"/>
  <p:embeddedFontLst>
    <p:embeddedFont>
      <p:font typeface="Red Hat Display SemiBold"/>
      <p:regular r:id="rId9"/>
      <p:bold r:id="rId10"/>
      <p:italic r:id="rId11"/>
      <p:boldItalic r:id="rId12"/>
    </p:embeddedFont>
    <p:embeddedFont>
      <p:font typeface="Red Hat Text Medium"/>
      <p:regular r:id="rId13"/>
      <p:bold r:id="rId14"/>
      <p:italic r:id="rId15"/>
      <p:boldItalic r:id="rId16"/>
    </p:embeddedFont>
    <p:embeddedFont>
      <p:font typeface="Red Hat Display Medium"/>
      <p:regular r:id="rId17"/>
      <p:bold r:id="rId18"/>
      <p:italic r:id="rId19"/>
      <p:boldItalic r:id="rId20"/>
    </p:embeddedFont>
    <p:embeddedFont>
      <p:font typeface="Red Hat Display"/>
      <p:regular r:id="rId21"/>
      <p:bold r:id="rId22"/>
      <p:italic r:id="rId23"/>
      <p:boldItalic r:id="rId24"/>
    </p:embeddedFont>
    <p:embeddedFont>
      <p:font typeface="Red Hat Text"/>
      <p:regular r:id="rId25"/>
      <p:bold r:id="rId26"/>
      <p:italic r:id="rId27"/>
      <p:boldItalic r:id="rId28"/>
    </p:embeddedFont>
    <p:embeddedFont>
      <p:font typeface="Red Hat Text SemiBold"/>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747775"/>
          </p15:clr>
        </p15:guide>
        <p15:guide id="2" pos="21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378274A-6AD2-4615-86B7-B9ED8AA71D54}">
  <a:tblStyle styleId="{C378274A-6AD2-4615-86B7-B9ED8AA71D5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edHatDisplayMedium-boldItalic.fntdata"/><Relationship Id="rId22" Type="http://schemas.openxmlformats.org/officeDocument/2006/relationships/font" Target="fonts/RedHatDisplay-bold.fntdata"/><Relationship Id="rId21" Type="http://schemas.openxmlformats.org/officeDocument/2006/relationships/font" Target="fonts/RedHatDisplay-regular.fntdata"/><Relationship Id="rId24" Type="http://schemas.openxmlformats.org/officeDocument/2006/relationships/font" Target="fonts/RedHatDisplay-boldItalic.fntdata"/><Relationship Id="rId23" Type="http://schemas.openxmlformats.org/officeDocument/2006/relationships/font" Target="fonts/RedHatDispl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RedHatDisplaySemiBold-regular.fntdata"/><Relationship Id="rId26" Type="http://schemas.openxmlformats.org/officeDocument/2006/relationships/font" Target="fonts/RedHatText-bold.fntdata"/><Relationship Id="rId25" Type="http://schemas.openxmlformats.org/officeDocument/2006/relationships/font" Target="fonts/RedHatText-regular.fntdata"/><Relationship Id="rId28" Type="http://schemas.openxmlformats.org/officeDocument/2006/relationships/font" Target="fonts/RedHatText-boldItalic.fntdata"/><Relationship Id="rId27" Type="http://schemas.openxmlformats.org/officeDocument/2006/relationships/font" Target="fonts/RedHatTex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edHatTextSemiBol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edHatTextSemiBold-italic.fntdata"/><Relationship Id="rId30" Type="http://schemas.openxmlformats.org/officeDocument/2006/relationships/font" Target="fonts/RedHatTextSemiBold-bold.fntdata"/><Relationship Id="rId11" Type="http://schemas.openxmlformats.org/officeDocument/2006/relationships/font" Target="fonts/RedHatDisplaySemiBold-italic.fntdata"/><Relationship Id="rId10" Type="http://schemas.openxmlformats.org/officeDocument/2006/relationships/font" Target="fonts/RedHatDisplaySemiBold-bold.fntdata"/><Relationship Id="rId32" Type="http://schemas.openxmlformats.org/officeDocument/2006/relationships/font" Target="fonts/RedHatTextSemiBold-boldItalic.fntdata"/><Relationship Id="rId13" Type="http://schemas.openxmlformats.org/officeDocument/2006/relationships/font" Target="fonts/RedHatTextMedium-regular.fntdata"/><Relationship Id="rId12" Type="http://schemas.openxmlformats.org/officeDocument/2006/relationships/font" Target="fonts/RedHatDisplaySemiBold-boldItalic.fntdata"/><Relationship Id="rId15" Type="http://schemas.openxmlformats.org/officeDocument/2006/relationships/font" Target="fonts/RedHatTextMedium-italic.fntdata"/><Relationship Id="rId14" Type="http://schemas.openxmlformats.org/officeDocument/2006/relationships/font" Target="fonts/RedHatTextMedium-bold.fntdata"/><Relationship Id="rId17" Type="http://schemas.openxmlformats.org/officeDocument/2006/relationships/font" Target="fonts/RedHatDisplayMedium-regular.fntdata"/><Relationship Id="rId16" Type="http://schemas.openxmlformats.org/officeDocument/2006/relationships/font" Target="fonts/RedHatTextMedium-boldItalic.fntdata"/><Relationship Id="rId19" Type="http://schemas.openxmlformats.org/officeDocument/2006/relationships/font" Target="fonts/RedHatDisplayMedium-italic.fntdata"/><Relationship Id="rId18" Type="http://schemas.openxmlformats.org/officeDocument/2006/relationships/font" Target="fonts/RedHatDisplay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25"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f6f2fb789_0_0:notes"/>
          <p:cNvSpPr/>
          <p:nvPr>
            <p:ph idx="2" type="sldImg"/>
          </p:nvPr>
        </p:nvSpPr>
        <p:spPr>
          <a:xfrm>
            <a:off x="2143425"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f6f2fb7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68626d5ed_0_119:notes"/>
          <p:cNvSpPr/>
          <p:nvPr>
            <p:ph idx="2" type="sldImg"/>
          </p:nvPr>
        </p:nvSpPr>
        <p:spPr>
          <a:xfrm>
            <a:off x="2143425"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68626d5e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33781" y="1323689"/>
            <a:ext cx="6390600" cy="36492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33775" y="5038444"/>
            <a:ext cx="6390600" cy="1409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33775" y="3823733"/>
            <a:ext cx="6390600" cy="1496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33775" y="791156"/>
            <a:ext cx="63906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33775" y="2048844"/>
            <a:ext cx="6390600" cy="60735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33775" y="791156"/>
            <a:ext cx="63906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33775" y="2048844"/>
            <a:ext cx="3000000" cy="607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3624300" y="2048844"/>
            <a:ext cx="3000000" cy="607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33775" y="791156"/>
            <a:ext cx="63906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33775" y="987733"/>
            <a:ext cx="2106000" cy="134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33775" y="2470400"/>
            <a:ext cx="2106000" cy="5652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67688" y="800267"/>
            <a:ext cx="4775700" cy="72726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429000" y="-222"/>
            <a:ext cx="3429000" cy="9144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99125" y="2192311"/>
            <a:ext cx="3033900" cy="2635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199125" y="4983244"/>
            <a:ext cx="3033900" cy="2195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3704625" y="1287244"/>
            <a:ext cx="2877900" cy="6569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33775" y="7521022"/>
            <a:ext cx="4499100" cy="1075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33775" y="1966444"/>
            <a:ext cx="6390600" cy="34908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33775" y="5603956"/>
            <a:ext cx="6390600" cy="23124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6354343" y="8290163"/>
            <a:ext cx="4116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with Image 1">
  <p:cSld name="CUSTOM_3_2_2">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28" y="0"/>
            <a:ext cx="496200" cy="9144000"/>
          </a:xfrm>
          <a:prstGeom prst="rect">
            <a:avLst/>
          </a:prstGeom>
          <a:solidFill>
            <a:schemeClr val="dk1"/>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Red Hat Display"/>
              <a:ea typeface="Red Hat Display"/>
              <a:cs typeface="Red Hat Display"/>
              <a:sym typeface="Red Hat Display"/>
            </a:endParaRPr>
          </a:p>
        </p:txBody>
      </p:sp>
      <p:cxnSp>
        <p:nvCxnSpPr>
          <p:cNvPr id="52" name="Google Shape;52;p13"/>
          <p:cNvCxnSpPr/>
          <p:nvPr/>
        </p:nvCxnSpPr>
        <p:spPr>
          <a:xfrm rot="10800000">
            <a:off x="251869" y="8535600"/>
            <a:ext cx="0" cy="608400"/>
          </a:xfrm>
          <a:prstGeom prst="straightConnector1">
            <a:avLst/>
          </a:prstGeom>
          <a:noFill/>
          <a:ln cap="flat" cmpd="sng" w="9525">
            <a:solidFill>
              <a:srgbClr val="EE0000"/>
            </a:solidFill>
            <a:prstDash val="solid"/>
            <a:round/>
            <a:headEnd len="med" w="med" type="none"/>
            <a:tailEnd len="med" w="med" type="none"/>
          </a:ln>
        </p:spPr>
      </p:cxnSp>
      <p:sp>
        <p:nvSpPr>
          <p:cNvPr id="53" name="Google Shape;53;p13"/>
          <p:cNvSpPr txBox="1"/>
          <p:nvPr>
            <p:ph idx="1" type="subTitle"/>
          </p:nvPr>
        </p:nvSpPr>
        <p:spPr>
          <a:xfrm rot="5400000">
            <a:off x="-3187322" y="3187350"/>
            <a:ext cx="6865200" cy="490500"/>
          </a:xfrm>
          <a:prstGeom prst="rect">
            <a:avLst/>
          </a:prstGeom>
        </p:spPr>
        <p:txBody>
          <a:bodyPr anchorCtr="0" anchor="ctr" bIns="68575" lIns="377175" spcFirstLastPara="1" rIns="68575" wrap="square" tIns="68575">
            <a:norm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pic>
        <p:nvPicPr>
          <p:cNvPr id="54" name="Google Shape;54;p13"/>
          <p:cNvPicPr preferRelativeResize="0"/>
          <p:nvPr/>
        </p:nvPicPr>
        <p:blipFill rotWithShape="1">
          <a:blip r:embed="rId2">
            <a:alphaModFix/>
          </a:blip>
          <a:srcRect b="317" l="0" r="0" t="327"/>
          <a:stretch/>
        </p:blipFill>
        <p:spPr>
          <a:xfrm>
            <a:off x="6025095" y="8417667"/>
            <a:ext cx="548916" cy="128318"/>
          </a:xfrm>
          <a:prstGeom prst="rect">
            <a:avLst/>
          </a:prstGeom>
          <a:noFill/>
          <a:ln>
            <a:noFill/>
          </a:ln>
        </p:spPr>
      </p:pic>
      <p:sp>
        <p:nvSpPr>
          <p:cNvPr id="55" name="Google Shape;55;p13"/>
          <p:cNvSpPr txBox="1"/>
          <p:nvPr>
            <p:ph idx="12" type="sldNum"/>
          </p:nvPr>
        </p:nvSpPr>
        <p:spPr>
          <a:xfrm>
            <a:off x="46111" y="8226075"/>
            <a:ext cx="411600" cy="191400"/>
          </a:xfrm>
          <a:prstGeom prst="rect">
            <a:avLst/>
          </a:prstGeom>
        </p:spPr>
        <p:txBody>
          <a:bodyPr anchorCtr="0" anchor="b" bIns="0" lIns="0" spcFirstLastPara="1" rIns="0" wrap="square" tIns="0">
            <a:norm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56" name="Google Shape;56;p13"/>
          <p:cNvSpPr txBox="1"/>
          <p:nvPr>
            <p:ph idx="2" type="subTitle"/>
          </p:nvPr>
        </p:nvSpPr>
        <p:spPr>
          <a:xfrm>
            <a:off x="3184045" y="5295533"/>
            <a:ext cx="2501100" cy="1219200"/>
          </a:xfrm>
          <a:prstGeom prst="rect">
            <a:avLst/>
          </a:prstGeom>
        </p:spPr>
        <p:txBody>
          <a:bodyPr anchorCtr="0" anchor="t" bIns="91425" lIns="91425" spcFirstLastPara="1" rIns="91425" wrap="square" tIns="91425">
            <a:norm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400"/>
              <a:buNone/>
              <a:defRPr sz="1400">
                <a:solidFill>
                  <a:schemeClr val="dk1"/>
                </a:solidFill>
              </a:defRPr>
            </a:lvl2pPr>
            <a:lvl3pPr lvl="2">
              <a:lnSpc>
                <a:spcPct val="140000"/>
              </a:lnSpc>
              <a:spcBef>
                <a:spcPts val="0"/>
              </a:spcBef>
              <a:spcAft>
                <a:spcPts val="0"/>
              </a:spcAft>
              <a:buClr>
                <a:schemeClr val="dk1"/>
              </a:buClr>
              <a:buSzPts val="1400"/>
              <a:buNone/>
              <a:defRPr sz="1400">
                <a:solidFill>
                  <a:schemeClr val="dk1"/>
                </a:solidFill>
              </a:defRPr>
            </a:lvl3pPr>
            <a:lvl4pPr lvl="3">
              <a:lnSpc>
                <a:spcPct val="140000"/>
              </a:lnSpc>
              <a:spcBef>
                <a:spcPts val="0"/>
              </a:spcBef>
              <a:spcAft>
                <a:spcPts val="0"/>
              </a:spcAft>
              <a:buClr>
                <a:schemeClr val="dk1"/>
              </a:buClr>
              <a:buSzPts val="1400"/>
              <a:buNone/>
              <a:defRPr sz="1400">
                <a:solidFill>
                  <a:schemeClr val="dk1"/>
                </a:solidFill>
              </a:defRPr>
            </a:lvl4pPr>
            <a:lvl5pPr lvl="4">
              <a:lnSpc>
                <a:spcPct val="140000"/>
              </a:lnSpc>
              <a:spcBef>
                <a:spcPts val="0"/>
              </a:spcBef>
              <a:spcAft>
                <a:spcPts val="0"/>
              </a:spcAft>
              <a:buClr>
                <a:schemeClr val="dk1"/>
              </a:buClr>
              <a:buSzPts val="1400"/>
              <a:buNone/>
              <a:defRPr sz="1400">
                <a:solidFill>
                  <a:schemeClr val="dk1"/>
                </a:solidFill>
              </a:defRPr>
            </a:lvl5pPr>
            <a:lvl6pPr lvl="5">
              <a:lnSpc>
                <a:spcPct val="140000"/>
              </a:lnSpc>
              <a:spcBef>
                <a:spcPts val="0"/>
              </a:spcBef>
              <a:spcAft>
                <a:spcPts val="0"/>
              </a:spcAft>
              <a:buClr>
                <a:schemeClr val="dk1"/>
              </a:buClr>
              <a:buSzPts val="1400"/>
              <a:buNone/>
              <a:defRPr sz="1400">
                <a:solidFill>
                  <a:schemeClr val="dk1"/>
                </a:solidFill>
              </a:defRPr>
            </a:lvl6pPr>
            <a:lvl7pPr lvl="6">
              <a:lnSpc>
                <a:spcPct val="140000"/>
              </a:lnSpc>
              <a:spcBef>
                <a:spcPts val="0"/>
              </a:spcBef>
              <a:spcAft>
                <a:spcPts val="0"/>
              </a:spcAft>
              <a:buClr>
                <a:schemeClr val="dk1"/>
              </a:buClr>
              <a:buSzPts val="1400"/>
              <a:buNone/>
              <a:defRPr sz="1400">
                <a:solidFill>
                  <a:schemeClr val="dk1"/>
                </a:solidFill>
              </a:defRPr>
            </a:lvl7pPr>
            <a:lvl8pPr lvl="7">
              <a:lnSpc>
                <a:spcPct val="140000"/>
              </a:lnSpc>
              <a:spcBef>
                <a:spcPts val="0"/>
              </a:spcBef>
              <a:spcAft>
                <a:spcPts val="0"/>
              </a:spcAft>
              <a:buClr>
                <a:schemeClr val="dk1"/>
              </a:buClr>
              <a:buSzPts val="1400"/>
              <a:buNone/>
              <a:defRPr sz="1400">
                <a:solidFill>
                  <a:schemeClr val="dk1"/>
                </a:solidFill>
              </a:defRPr>
            </a:lvl8pPr>
            <a:lvl9pPr lvl="8">
              <a:lnSpc>
                <a:spcPct val="140000"/>
              </a:lnSpc>
              <a:spcBef>
                <a:spcPts val="0"/>
              </a:spcBef>
              <a:spcAft>
                <a:spcPts val="0"/>
              </a:spcAft>
              <a:buClr>
                <a:schemeClr val="dk1"/>
              </a:buClr>
              <a:buSzPts val="1400"/>
              <a:buNone/>
              <a:defRPr sz="1400">
                <a:solidFill>
                  <a:schemeClr val="dk1"/>
                </a:solidFill>
              </a:defRPr>
            </a:lvl9pPr>
          </a:lstStyle>
          <a:p/>
        </p:txBody>
      </p:sp>
      <p:sp>
        <p:nvSpPr>
          <p:cNvPr id="57" name="Google Shape;57;p13"/>
          <p:cNvSpPr txBox="1"/>
          <p:nvPr>
            <p:ph type="title"/>
          </p:nvPr>
        </p:nvSpPr>
        <p:spPr>
          <a:xfrm>
            <a:off x="3184045" y="2278709"/>
            <a:ext cx="3226800" cy="28236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None/>
              <a:defRPr sz="36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9pPr>
          </a:lstStyle>
          <a:p/>
        </p:txBody>
      </p:sp>
      <p:sp>
        <p:nvSpPr>
          <p:cNvPr id="58" name="Google Shape;58;p13"/>
          <p:cNvSpPr txBox="1"/>
          <p:nvPr>
            <p:ph idx="3" type="subTitle"/>
          </p:nvPr>
        </p:nvSpPr>
        <p:spPr>
          <a:xfrm>
            <a:off x="3184045" y="7091033"/>
            <a:ext cx="1147800" cy="807600"/>
          </a:xfrm>
          <a:prstGeom prst="rect">
            <a:avLst/>
          </a:prstGeom>
        </p:spPr>
        <p:txBody>
          <a:bodyPr anchorCtr="0" anchor="t" bIns="91425" lIns="91425" spcFirstLastPara="1" rIns="91425" wrap="square" tIns="91425">
            <a:normAutofit/>
          </a:bodyPr>
          <a:lstStyle>
            <a:lvl1pPr lvl="0">
              <a:lnSpc>
                <a:spcPct val="135000"/>
              </a:lnSpc>
              <a:spcBef>
                <a:spcPts val="0"/>
              </a:spcBef>
              <a:spcAft>
                <a:spcPts val="0"/>
              </a:spcAft>
              <a:buClr>
                <a:schemeClr val="dk1"/>
              </a:buClr>
              <a:buSzPts val="1100"/>
              <a:buFont typeface="Red Hat Display Medium"/>
              <a:buNone/>
              <a:defRPr sz="11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900"/>
              <a:buNone/>
              <a:defRPr sz="900">
                <a:solidFill>
                  <a:schemeClr val="dk1"/>
                </a:solidFill>
              </a:defRPr>
            </a:lvl2pPr>
            <a:lvl3pPr lvl="2">
              <a:lnSpc>
                <a:spcPct val="135000"/>
              </a:lnSpc>
              <a:spcBef>
                <a:spcPts val="0"/>
              </a:spcBef>
              <a:spcAft>
                <a:spcPts val="0"/>
              </a:spcAft>
              <a:buClr>
                <a:schemeClr val="dk1"/>
              </a:buClr>
              <a:buSzPts val="900"/>
              <a:buNone/>
              <a:defRPr sz="900">
                <a:solidFill>
                  <a:schemeClr val="dk1"/>
                </a:solidFill>
              </a:defRPr>
            </a:lvl3pPr>
            <a:lvl4pPr lvl="3">
              <a:lnSpc>
                <a:spcPct val="135000"/>
              </a:lnSpc>
              <a:spcBef>
                <a:spcPts val="0"/>
              </a:spcBef>
              <a:spcAft>
                <a:spcPts val="0"/>
              </a:spcAft>
              <a:buClr>
                <a:schemeClr val="dk1"/>
              </a:buClr>
              <a:buSzPts val="900"/>
              <a:buNone/>
              <a:defRPr sz="900">
                <a:solidFill>
                  <a:schemeClr val="dk1"/>
                </a:solidFill>
              </a:defRPr>
            </a:lvl4pPr>
            <a:lvl5pPr lvl="4">
              <a:lnSpc>
                <a:spcPct val="135000"/>
              </a:lnSpc>
              <a:spcBef>
                <a:spcPts val="0"/>
              </a:spcBef>
              <a:spcAft>
                <a:spcPts val="0"/>
              </a:spcAft>
              <a:buClr>
                <a:schemeClr val="dk1"/>
              </a:buClr>
              <a:buSzPts val="900"/>
              <a:buNone/>
              <a:defRPr sz="900">
                <a:solidFill>
                  <a:schemeClr val="dk1"/>
                </a:solidFill>
              </a:defRPr>
            </a:lvl5pPr>
            <a:lvl6pPr lvl="5">
              <a:lnSpc>
                <a:spcPct val="135000"/>
              </a:lnSpc>
              <a:spcBef>
                <a:spcPts val="0"/>
              </a:spcBef>
              <a:spcAft>
                <a:spcPts val="0"/>
              </a:spcAft>
              <a:buClr>
                <a:schemeClr val="dk1"/>
              </a:buClr>
              <a:buSzPts val="900"/>
              <a:buNone/>
              <a:defRPr sz="900">
                <a:solidFill>
                  <a:schemeClr val="dk1"/>
                </a:solidFill>
              </a:defRPr>
            </a:lvl6pPr>
            <a:lvl7pPr lvl="6">
              <a:lnSpc>
                <a:spcPct val="135000"/>
              </a:lnSpc>
              <a:spcBef>
                <a:spcPts val="0"/>
              </a:spcBef>
              <a:spcAft>
                <a:spcPts val="0"/>
              </a:spcAft>
              <a:buClr>
                <a:schemeClr val="dk1"/>
              </a:buClr>
              <a:buSzPts val="900"/>
              <a:buNone/>
              <a:defRPr sz="900">
                <a:solidFill>
                  <a:schemeClr val="dk1"/>
                </a:solidFill>
              </a:defRPr>
            </a:lvl7pPr>
            <a:lvl8pPr lvl="7">
              <a:lnSpc>
                <a:spcPct val="135000"/>
              </a:lnSpc>
              <a:spcBef>
                <a:spcPts val="0"/>
              </a:spcBef>
              <a:spcAft>
                <a:spcPts val="0"/>
              </a:spcAft>
              <a:buClr>
                <a:schemeClr val="dk1"/>
              </a:buClr>
              <a:buSzPts val="900"/>
              <a:buNone/>
              <a:defRPr sz="900">
                <a:solidFill>
                  <a:schemeClr val="dk1"/>
                </a:solidFill>
              </a:defRPr>
            </a:lvl8pPr>
            <a:lvl9pPr lvl="8">
              <a:lnSpc>
                <a:spcPct val="135000"/>
              </a:lnSpc>
              <a:spcBef>
                <a:spcPts val="0"/>
              </a:spcBef>
              <a:spcAft>
                <a:spcPts val="0"/>
              </a:spcAft>
              <a:buClr>
                <a:schemeClr val="dk1"/>
              </a:buClr>
              <a:buSzPts val="900"/>
              <a:buNone/>
              <a:defRPr sz="900">
                <a:solidFill>
                  <a:schemeClr val="dk1"/>
                </a:solidFill>
              </a:defRPr>
            </a:lvl9pPr>
          </a:lstStyle>
          <a:p/>
        </p:txBody>
      </p:sp>
      <p:sp>
        <p:nvSpPr>
          <p:cNvPr id="59" name="Google Shape;59;p13"/>
          <p:cNvSpPr/>
          <p:nvPr/>
        </p:nvSpPr>
        <p:spPr>
          <a:xfrm>
            <a:off x="5007291" y="7838500"/>
            <a:ext cx="1850700" cy="13056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60" name="Google Shape;60;p13"/>
          <p:cNvPicPr preferRelativeResize="0"/>
          <p:nvPr/>
        </p:nvPicPr>
        <p:blipFill>
          <a:blip r:embed="rId3">
            <a:alphaModFix/>
          </a:blip>
          <a:stretch>
            <a:fillRect/>
          </a:stretch>
        </p:blipFill>
        <p:spPr>
          <a:xfrm>
            <a:off x="5685103" y="8271981"/>
            <a:ext cx="888904" cy="20968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33775" y="791156"/>
            <a:ext cx="6390600" cy="1018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33775" y="2048844"/>
            <a:ext cx="6390600" cy="60735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6354343" y="8290163"/>
            <a:ext cx="411600" cy="699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nvSpPr>
        <p:spPr>
          <a:xfrm>
            <a:off x="1201318" y="6123600"/>
            <a:ext cx="4751700" cy="91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600">
                <a:solidFill>
                  <a:srgbClr val="EE0000"/>
                </a:solidFill>
                <a:latin typeface="Red Hat Display SemiBold"/>
                <a:ea typeface="Red Hat Display SemiBold"/>
                <a:cs typeface="Red Hat Display SemiBold"/>
                <a:sym typeface="Red Hat Display SemiBold"/>
              </a:rPr>
              <a:t>Seller Talking Points</a:t>
            </a:r>
            <a:endParaRPr sz="4100">
              <a:solidFill>
                <a:srgbClr val="EE0000"/>
              </a:solidFill>
              <a:latin typeface="Red Hat Display SemiBold"/>
              <a:ea typeface="Red Hat Display SemiBold"/>
              <a:cs typeface="Red Hat Display SemiBold"/>
              <a:sym typeface="Red Hat Display SemiBold"/>
            </a:endParaRPr>
          </a:p>
        </p:txBody>
      </p:sp>
      <p:sp>
        <p:nvSpPr>
          <p:cNvPr id="66" name="Google Shape;66;p14"/>
          <p:cNvSpPr txBox="1"/>
          <p:nvPr/>
        </p:nvSpPr>
        <p:spPr>
          <a:xfrm>
            <a:off x="802642" y="7042200"/>
            <a:ext cx="5252700" cy="91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900">
                <a:latin typeface="Red Hat Display Medium"/>
                <a:ea typeface="Red Hat Display Medium"/>
                <a:cs typeface="Red Hat Display Medium"/>
                <a:sym typeface="Red Hat Display Medium"/>
              </a:rPr>
              <a:t>Sovereignty</a:t>
            </a:r>
            <a:endParaRPr sz="2900">
              <a:solidFill>
                <a:srgbClr val="000000"/>
              </a:solidFill>
              <a:latin typeface="Red Hat Display Medium"/>
              <a:ea typeface="Red Hat Display Medium"/>
              <a:cs typeface="Red Hat Display Medium"/>
              <a:sym typeface="Red Hat Display Medium"/>
            </a:endParaRPr>
          </a:p>
        </p:txBody>
      </p:sp>
      <p:sp>
        <p:nvSpPr>
          <p:cNvPr id="67" name="Google Shape;67;p14"/>
          <p:cNvSpPr/>
          <p:nvPr/>
        </p:nvSpPr>
        <p:spPr>
          <a:xfrm>
            <a:off x="0" y="8485800"/>
            <a:ext cx="6858000" cy="65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lt1"/>
              </a:solidFill>
              <a:latin typeface="Red Hat Display"/>
              <a:ea typeface="Red Hat Display"/>
              <a:cs typeface="Red Hat Display"/>
              <a:sym typeface="Red Hat Display"/>
            </a:endParaRPr>
          </a:p>
        </p:txBody>
      </p:sp>
      <p:sp>
        <p:nvSpPr>
          <p:cNvPr id="68" name="Google Shape;68;p14"/>
          <p:cNvSpPr/>
          <p:nvPr/>
        </p:nvSpPr>
        <p:spPr>
          <a:xfrm>
            <a:off x="0" y="0"/>
            <a:ext cx="6858000" cy="5497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9" name="Google Shape;69;p14"/>
          <p:cNvPicPr preferRelativeResize="0"/>
          <p:nvPr/>
        </p:nvPicPr>
        <p:blipFill>
          <a:blip r:embed="rId3">
            <a:alphaModFix/>
          </a:blip>
          <a:stretch>
            <a:fillRect/>
          </a:stretch>
        </p:blipFill>
        <p:spPr>
          <a:xfrm>
            <a:off x="1435238" y="754975"/>
            <a:ext cx="3987523" cy="39875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p:nvPr/>
        </p:nvSpPr>
        <p:spPr>
          <a:xfrm>
            <a:off x="223425" y="2561925"/>
            <a:ext cx="6398700" cy="2808900"/>
          </a:xfrm>
          <a:prstGeom prst="rect">
            <a:avLst/>
          </a:prstGeom>
          <a:solidFill>
            <a:srgbClr val="F3F3F3"/>
          </a:solid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5"/>
          <p:cNvSpPr txBox="1"/>
          <p:nvPr/>
        </p:nvSpPr>
        <p:spPr>
          <a:xfrm>
            <a:off x="626275" y="3644613"/>
            <a:ext cx="1709700" cy="318000"/>
          </a:xfrm>
          <a:prstGeom prst="rect">
            <a:avLst/>
          </a:prstGeom>
          <a:noFill/>
          <a:ln>
            <a:noFill/>
          </a:ln>
        </p:spPr>
        <p:txBody>
          <a:bodyPr anchorCtr="0" anchor="t" bIns="87025" lIns="87025" spcFirstLastPara="1" rIns="87025" wrap="square" tIns="87025">
            <a:noAutofit/>
          </a:bodyPr>
          <a:lstStyle/>
          <a:p>
            <a:pPr indent="0" lvl="0" marL="0" rtl="0" algn="l">
              <a:spcBef>
                <a:spcPts val="0"/>
              </a:spcBef>
              <a:spcAft>
                <a:spcPts val="0"/>
              </a:spcAft>
              <a:buNone/>
            </a:pPr>
            <a:r>
              <a:rPr lang="en" sz="1237">
                <a:solidFill>
                  <a:schemeClr val="dk1"/>
                </a:solidFill>
                <a:latin typeface="Red Hat Text SemiBold"/>
                <a:ea typeface="Red Hat Text SemiBold"/>
                <a:cs typeface="Red Hat Text SemiBold"/>
                <a:sym typeface="Red Hat Text SemiBold"/>
              </a:rPr>
              <a:t>Vendor </a:t>
            </a:r>
            <a:br>
              <a:rPr lang="en" sz="1237">
                <a:solidFill>
                  <a:schemeClr val="dk1"/>
                </a:solidFill>
                <a:latin typeface="Red Hat Text SemiBold"/>
                <a:ea typeface="Red Hat Text SemiBold"/>
                <a:cs typeface="Red Hat Text SemiBold"/>
                <a:sym typeface="Red Hat Text SemiBold"/>
              </a:rPr>
            </a:br>
            <a:r>
              <a:rPr lang="en" sz="1237">
                <a:solidFill>
                  <a:schemeClr val="dk1"/>
                </a:solidFill>
                <a:latin typeface="Red Hat Text SemiBold"/>
                <a:ea typeface="Red Hat Text SemiBold"/>
                <a:cs typeface="Red Hat Text SemiBold"/>
                <a:sym typeface="Red Hat Text SemiBold"/>
              </a:rPr>
              <a:t>dependency</a:t>
            </a:r>
            <a:endParaRPr sz="1237">
              <a:solidFill>
                <a:schemeClr val="dk1"/>
              </a:solidFill>
              <a:latin typeface="Red Hat Text SemiBold"/>
              <a:ea typeface="Red Hat Text SemiBold"/>
              <a:cs typeface="Red Hat Text SemiBold"/>
              <a:sym typeface="Red Hat Text SemiBold"/>
            </a:endParaRPr>
          </a:p>
        </p:txBody>
      </p:sp>
      <p:sp>
        <p:nvSpPr>
          <p:cNvPr id="76" name="Google Shape;76;p15"/>
          <p:cNvSpPr txBox="1"/>
          <p:nvPr/>
        </p:nvSpPr>
        <p:spPr>
          <a:xfrm>
            <a:off x="2601788" y="230711"/>
            <a:ext cx="16545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Red Hat Display"/>
              <a:ea typeface="Red Hat Display"/>
              <a:cs typeface="Red Hat Display"/>
              <a:sym typeface="Red Hat Display"/>
            </a:endParaRPr>
          </a:p>
        </p:txBody>
      </p:sp>
      <p:sp>
        <p:nvSpPr>
          <p:cNvPr id="77" name="Google Shape;77;p15"/>
          <p:cNvSpPr/>
          <p:nvPr/>
        </p:nvSpPr>
        <p:spPr>
          <a:xfrm>
            <a:off x="0" y="-3950"/>
            <a:ext cx="6858000" cy="65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ed Hat Display"/>
                <a:ea typeface="Red Hat Display"/>
                <a:cs typeface="Red Hat Display"/>
                <a:sym typeface="Red Hat Display"/>
              </a:rPr>
              <a:t>Sovereignty</a:t>
            </a:r>
            <a:r>
              <a:rPr b="1" lang="en">
                <a:solidFill>
                  <a:schemeClr val="lt1"/>
                </a:solidFill>
                <a:latin typeface="Red Hat Display"/>
                <a:ea typeface="Red Hat Display"/>
                <a:cs typeface="Red Hat Display"/>
                <a:sym typeface="Red Hat Display"/>
              </a:rPr>
              <a:t> talk track and insights </a:t>
            </a:r>
            <a:endParaRPr b="1">
              <a:solidFill>
                <a:schemeClr val="lt1"/>
              </a:solidFill>
              <a:latin typeface="Red Hat Display"/>
              <a:ea typeface="Red Hat Display"/>
              <a:cs typeface="Red Hat Display"/>
              <a:sym typeface="Red Hat Display"/>
            </a:endParaRPr>
          </a:p>
        </p:txBody>
      </p:sp>
      <p:pic>
        <p:nvPicPr>
          <p:cNvPr id="78" name="Google Shape;78;p15" title="RedHat_favicon_0319.Large-logo-transparent.png"/>
          <p:cNvPicPr preferRelativeResize="0"/>
          <p:nvPr/>
        </p:nvPicPr>
        <p:blipFill>
          <a:blip r:embed="rId3">
            <a:alphaModFix/>
          </a:blip>
          <a:stretch>
            <a:fillRect/>
          </a:stretch>
        </p:blipFill>
        <p:spPr>
          <a:xfrm>
            <a:off x="6023950" y="56410"/>
            <a:ext cx="548100" cy="548100"/>
          </a:xfrm>
          <a:prstGeom prst="rect">
            <a:avLst/>
          </a:prstGeom>
          <a:noFill/>
          <a:ln>
            <a:noFill/>
          </a:ln>
        </p:spPr>
      </p:pic>
      <p:sp>
        <p:nvSpPr>
          <p:cNvPr id="79" name="Google Shape;79;p15"/>
          <p:cNvSpPr txBox="1"/>
          <p:nvPr/>
        </p:nvSpPr>
        <p:spPr>
          <a:xfrm>
            <a:off x="233525" y="3020775"/>
            <a:ext cx="6398700" cy="4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ed Hat Text"/>
                <a:ea typeface="Red Hat Text"/>
                <a:cs typeface="Red Hat Text"/>
                <a:sym typeface="Red Hat Text"/>
              </a:rPr>
              <a:t>Sovereignty means many things, and each customer may focus on one or multiple challenges. The best strategy is to ask different discovery questions to get at the root challenge.</a:t>
            </a:r>
            <a:endParaRPr sz="1000">
              <a:solidFill>
                <a:schemeClr val="dk1"/>
              </a:solidFill>
              <a:latin typeface="Red Hat Text"/>
              <a:ea typeface="Red Hat Text"/>
              <a:cs typeface="Red Hat Text"/>
              <a:sym typeface="Red Hat Text"/>
            </a:endParaRPr>
          </a:p>
        </p:txBody>
      </p:sp>
      <p:sp>
        <p:nvSpPr>
          <p:cNvPr id="80" name="Google Shape;80;p15"/>
          <p:cNvSpPr/>
          <p:nvPr/>
        </p:nvSpPr>
        <p:spPr>
          <a:xfrm>
            <a:off x="105250" y="1145100"/>
            <a:ext cx="2235600" cy="13098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Red Hat Text"/>
                <a:ea typeface="Red Hat Text"/>
                <a:cs typeface="Red Hat Text"/>
                <a:sym typeface="Red Hat Text"/>
              </a:rPr>
              <a:t>Rising global tensions increase the demand for technical independence and national self-sufficiency. Customers need to safeguard their critical infrastructure and intellectual property.</a:t>
            </a:r>
            <a:r>
              <a:rPr lang="en" sz="1000">
                <a:solidFill>
                  <a:srgbClr val="EE0000"/>
                </a:solidFill>
                <a:latin typeface="Red Hat Text"/>
                <a:ea typeface="Red Hat Text"/>
                <a:cs typeface="Red Hat Text"/>
                <a:sym typeface="Red Hat Text"/>
              </a:rPr>
              <a:t> Position Red Hat’s value of open source and transparency.</a:t>
            </a:r>
            <a:endParaRPr>
              <a:solidFill>
                <a:schemeClr val="dk1"/>
              </a:solidFill>
            </a:endParaRPr>
          </a:p>
          <a:p>
            <a:pPr indent="0" lvl="0" marL="0" rtl="0" algn="l">
              <a:lnSpc>
                <a:spcPct val="100000"/>
              </a:lnSpc>
              <a:spcBef>
                <a:spcPts val="0"/>
              </a:spcBef>
              <a:spcAft>
                <a:spcPts val="0"/>
              </a:spcAft>
              <a:buNone/>
            </a:pPr>
            <a:r>
              <a:t/>
            </a:r>
            <a:endParaRPr sz="1000">
              <a:solidFill>
                <a:schemeClr val="dk1"/>
              </a:solidFill>
              <a:latin typeface="Red Hat Text"/>
              <a:ea typeface="Red Hat Text"/>
              <a:cs typeface="Red Hat Text"/>
              <a:sym typeface="Red Hat Text"/>
            </a:endParaRPr>
          </a:p>
        </p:txBody>
      </p:sp>
      <p:sp>
        <p:nvSpPr>
          <p:cNvPr id="81" name="Google Shape;81;p15"/>
          <p:cNvSpPr/>
          <p:nvPr/>
        </p:nvSpPr>
        <p:spPr>
          <a:xfrm>
            <a:off x="170550" y="2548719"/>
            <a:ext cx="6516900" cy="318000"/>
          </a:xfrm>
          <a:prstGeom prst="roundRect">
            <a:avLst>
              <a:gd fmla="val 16667" name="adj"/>
            </a:avLst>
          </a:prstGeom>
          <a:solidFill>
            <a:srgbClr val="EE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Red Hat Text"/>
                <a:ea typeface="Red Hat Text"/>
                <a:cs typeface="Red Hat Text"/>
                <a:sym typeface="Red Hat Text"/>
              </a:rPr>
              <a:t>Customer challenge summary </a:t>
            </a:r>
            <a:endParaRPr b="1">
              <a:solidFill>
                <a:srgbClr val="FFFFFF"/>
              </a:solidFill>
              <a:latin typeface="Red Hat Text"/>
              <a:ea typeface="Red Hat Text"/>
              <a:cs typeface="Red Hat Text"/>
              <a:sym typeface="Red Hat Text"/>
            </a:endParaRPr>
          </a:p>
        </p:txBody>
      </p:sp>
      <p:pic>
        <p:nvPicPr>
          <p:cNvPr id="82" name="Google Shape;82;p15"/>
          <p:cNvPicPr preferRelativeResize="0"/>
          <p:nvPr/>
        </p:nvPicPr>
        <p:blipFill rotWithShape="1">
          <a:blip r:embed="rId4">
            <a:alphaModFix/>
          </a:blip>
          <a:srcRect b="0" l="0" r="0" t="0"/>
          <a:stretch/>
        </p:blipFill>
        <p:spPr>
          <a:xfrm>
            <a:off x="2383158" y="3656450"/>
            <a:ext cx="464402" cy="464401"/>
          </a:xfrm>
          <a:prstGeom prst="rect">
            <a:avLst/>
          </a:prstGeom>
          <a:noFill/>
          <a:ln>
            <a:noFill/>
          </a:ln>
        </p:spPr>
      </p:pic>
      <p:pic>
        <p:nvPicPr>
          <p:cNvPr id="83" name="Google Shape;83;p15"/>
          <p:cNvPicPr preferRelativeResize="0"/>
          <p:nvPr/>
        </p:nvPicPr>
        <p:blipFill rotWithShape="1">
          <a:blip r:embed="rId5">
            <a:alphaModFix/>
          </a:blip>
          <a:srcRect b="0" l="0" r="0" t="0"/>
          <a:stretch/>
        </p:blipFill>
        <p:spPr>
          <a:xfrm>
            <a:off x="4447948" y="3640425"/>
            <a:ext cx="464402" cy="464401"/>
          </a:xfrm>
          <a:prstGeom prst="rect">
            <a:avLst/>
          </a:prstGeom>
          <a:noFill/>
          <a:ln>
            <a:noFill/>
          </a:ln>
        </p:spPr>
      </p:pic>
      <p:sp>
        <p:nvSpPr>
          <p:cNvPr id="84" name="Google Shape;84;p15"/>
          <p:cNvSpPr/>
          <p:nvPr/>
        </p:nvSpPr>
        <p:spPr>
          <a:xfrm>
            <a:off x="177400" y="710700"/>
            <a:ext cx="6516900" cy="318000"/>
          </a:xfrm>
          <a:prstGeom prst="roundRect">
            <a:avLst>
              <a:gd fmla="val 16667" name="adj"/>
            </a:avLst>
          </a:prstGeom>
          <a:solidFill>
            <a:srgbClr val="EE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Red Hat Text"/>
                <a:ea typeface="Red Hat Text"/>
                <a:cs typeface="Red Hat Text"/>
                <a:sym typeface="Red Hat Text"/>
              </a:rPr>
              <a:t>Why have the </a:t>
            </a:r>
            <a:r>
              <a:rPr b="1" lang="en">
                <a:solidFill>
                  <a:srgbClr val="FFFFFF"/>
                </a:solidFill>
                <a:latin typeface="Red Hat Text"/>
                <a:ea typeface="Red Hat Text"/>
                <a:cs typeface="Red Hat Text"/>
                <a:sym typeface="Red Hat Text"/>
              </a:rPr>
              <a:t>Sovereignty</a:t>
            </a:r>
            <a:r>
              <a:rPr b="1" lang="en">
                <a:solidFill>
                  <a:srgbClr val="FFFFFF"/>
                </a:solidFill>
                <a:latin typeface="Red Hat Text"/>
                <a:ea typeface="Red Hat Text"/>
                <a:cs typeface="Red Hat Text"/>
                <a:sym typeface="Red Hat Text"/>
              </a:rPr>
              <a:t> conversation with your customer?</a:t>
            </a:r>
            <a:endParaRPr b="1">
              <a:solidFill>
                <a:srgbClr val="FFFFFF"/>
              </a:solidFill>
              <a:latin typeface="Red Hat Text"/>
              <a:ea typeface="Red Hat Text"/>
              <a:cs typeface="Red Hat Text"/>
              <a:sym typeface="Red Hat Text"/>
            </a:endParaRPr>
          </a:p>
        </p:txBody>
      </p:sp>
      <p:cxnSp>
        <p:nvCxnSpPr>
          <p:cNvPr id="85" name="Google Shape;85;p15"/>
          <p:cNvCxnSpPr/>
          <p:nvPr/>
        </p:nvCxnSpPr>
        <p:spPr>
          <a:xfrm>
            <a:off x="2260600" y="1157305"/>
            <a:ext cx="0" cy="1220700"/>
          </a:xfrm>
          <a:prstGeom prst="straightConnector1">
            <a:avLst/>
          </a:prstGeom>
          <a:noFill/>
          <a:ln cap="flat" cmpd="sng" w="9525">
            <a:solidFill>
              <a:schemeClr val="dk2"/>
            </a:solidFill>
            <a:prstDash val="dot"/>
            <a:round/>
            <a:headEnd len="med" w="med" type="none"/>
            <a:tailEnd len="med" w="med" type="none"/>
          </a:ln>
        </p:spPr>
      </p:cxnSp>
      <p:pic>
        <p:nvPicPr>
          <p:cNvPr id="86" name="Google Shape;86;p15"/>
          <p:cNvPicPr preferRelativeResize="0"/>
          <p:nvPr/>
        </p:nvPicPr>
        <p:blipFill rotWithShape="1">
          <a:blip r:embed="rId6">
            <a:alphaModFix/>
          </a:blip>
          <a:srcRect b="0" l="139" r="139" t="0"/>
          <a:stretch/>
        </p:blipFill>
        <p:spPr>
          <a:xfrm>
            <a:off x="267100" y="3619203"/>
            <a:ext cx="464395" cy="465685"/>
          </a:xfrm>
          <a:prstGeom prst="rect">
            <a:avLst/>
          </a:prstGeom>
          <a:noFill/>
          <a:ln>
            <a:noFill/>
          </a:ln>
        </p:spPr>
      </p:pic>
      <p:sp>
        <p:nvSpPr>
          <p:cNvPr id="87" name="Google Shape;87;p15"/>
          <p:cNvSpPr txBox="1"/>
          <p:nvPr/>
        </p:nvSpPr>
        <p:spPr>
          <a:xfrm>
            <a:off x="2929100" y="3608013"/>
            <a:ext cx="1437300" cy="391200"/>
          </a:xfrm>
          <a:prstGeom prst="rect">
            <a:avLst/>
          </a:prstGeom>
          <a:noFill/>
          <a:ln>
            <a:noFill/>
          </a:ln>
        </p:spPr>
        <p:txBody>
          <a:bodyPr anchorCtr="0" anchor="t" bIns="87025" lIns="87025" spcFirstLastPara="1" rIns="87025" wrap="square" tIns="87025">
            <a:noAutofit/>
          </a:bodyPr>
          <a:lstStyle/>
          <a:p>
            <a:pPr indent="0" lvl="0" marL="0" rtl="0" algn="l">
              <a:spcBef>
                <a:spcPts val="0"/>
              </a:spcBef>
              <a:spcAft>
                <a:spcPts val="0"/>
              </a:spcAft>
              <a:buNone/>
            </a:pPr>
            <a:r>
              <a:rPr lang="en" sz="1237">
                <a:solidFill>
                  <a:schemeClr val="dk1"/>
                </a:solidFill>
                <a:latin typeface="Red Hat Text SemiBold"/>
                <a:ea typeface="Red Hat Text SemiBold"/>
                <a:cs typeface="Red Hat Text SemiBold"/>
                <a:sym typeface="Red Hat Text SemiBold"/>
              </a:rPr>
              <a:t>Trust and </a:t>
            </a:r>
            <a:br>
              <a:rPr lang="en" sz="1237">
                <a:solidFill>
                  <a:schemeClr val="dk1"/>
                </a:solidFill>
                <a:latin typeface="Red Hat Text SemiBold"/>
                <a:ea typeface="Red Hat Text SemiBold"/>
                <a:cs typeface="Red Hat Text SemiBold"/>
                <a:sym typeface="Red Hat Text SemiBold"/>
              </a:rPr>
            </a:br>
            <a:r>
              <a:rPr lang="en" sz="1237">
                <a:solidFill>
                  <a:schemeClr val="dk1"/>
                </a:solidFill>
                <a:latin typeface="Red Hat Text SemiBold"/>
                <a:ea typeface="Red Hat Text SemiBold"/>
                <a:cs typeface="Red Hat Text SemiBold"/>
                <a:sym typeface="Red Hat Text SemiBold"/>
              </a:rPr>
              <a:t>security</a:t>
            </a:r>
            <a:endParaRPr sz="1237">
              <a:solidFill>
                <a:schemeClr val="dk1"/>
              </a:solidFill>
              <a:latin typeface="Red Hat Text SemiBold"/>
              <a:ea typeface="Red Hat Text SemiBold"/>
              <a:cs typeface="Red Hat Text SemiBold"/>
              <a:sym typeface="Red Hat Text SemiBold"/>
            </a:endParaRPr>
          </a:p>
        </p:txBody>
      </p:sp>
      <p:sp>
        <p:nvSpPr>
          <p:cNvPr id="88" name="Google Shape;88;p15"/>
          <p:cNvSpPr txBox="1"/>
          <p:nvPr/>
        </p:nvSpPr>
        <p:spPr>
          <a:xfrm>
            <a:off x="4959525" y="3578000"/>
            <a:ext cx="1654500" cy="548100"/>
          </a:xfrm>
          <a:prstGeom prst="rect">
            <a:avLst/>
          </a:prstGeom>
          <a:noFill/>
          <a:ln>
            <a:noFill/>
          </a:ln>
        </p:spPr>
        <p:txBody>
          <a:bodyPr anchorCtr="0" anchor="t" bIns="87025" lIns="87025" spcFirstLastPara="1" rIns="87025" wrap="square" tIns="87025">
            <a:noAutofit/>
          </a:bodyPr>
          <a:lstStyle/>
          <a:p>
            <a:pPr indent="0" lvl="0" marL="0" rtl="0" algn="l">
              <a:spcBef>
                <a:spcPts val="0"/>
              </a:spcBef>
              <a:spcAft>
                <a:spcPts val="0"/>
              </a:spcAft>
              <a:buNone/>
            </a:pPr>
            <a:r>
              <a:rPr lang="en" sz="1237">
                <a:solidFill>
                  <a:schemeClr val="dk1"/>
                </a:solidFill>
                <a:latin typeface="Red Hat Text SemiBold"/>
                <a:ea typeface="Red Hat Text SemiBold"/>
                <a:cs typeface="Red Hat Text SemiBold"/>
                <a:sym typeface="Red Hat Text SemiBold"/>
              </a:rPr>
              <a:t>Technology and</a:t>
            </a:r>
            <a:br>
              <a:rPr lang="en" sz="1237">
                <a:solidFill>
                  <a:schemeClr val="dk1"/>
                </a:solidFill>
                <a:latin typeface="Red Hat Text SemiBold"/>
                <a:ea typeface="Red Hat Text SemiBold"/>
                <a:cs typeface="Red Hat Text SemiBold"/>
                <a:sym typeface="Red Hat Text SemiBold"/>
              </a:rPr>
            </a:br>
            <a:r>
              <a:rPr lang="en" sz="1237">
                <a:solidFill>
                  <a:schemeClr val="dk1"/>
                </a:solidFill>
                <a:latin typeface="Red Hat Text SemiBold"/>
                <a:ea typeface="Red Hat Text SemiBold"/>
                <a:cs typeface="Red Hat Text SemiBold"/>
                <a:sym typeface="Red Hat Text SemiBold"/>
              </a:rPr>
              <a:t>o</a:t>
            </a:r>
            <a:r>
              <a:rPr lang="en" sz="1237">
                <a:solidFill>
                  <a:schemeClr val="dk1"/>
                </a:solidFill>
                <a:latin typeface="Red Hat Text SemiBold"/>
                <a:ea typeface="Red Hat Text SemiBold"/>
                <a:cs typeface="Red Hat Text SemiBold"/>
                <a:sym typeface="Red Hat Text SemiBold"/>
              </a:rPr>
              <a:t>perational</a:t>
            </a:r>
            <a:r>
              <a:rPr lang="en" sz="1237">
                <a:solidFill>
                  <a:schemeClr val="dk1"/>
                </a:solidFill>
                <a:latin typeface="Red Hat Text SemiBold"/>
                <a:ea typeface="Red Hat Text SemiBold"/>
                <a:cs typeface="Red Hat Text SemiBold"/>
                <a:sym typeface="Red Hat Text SemiBold"/>
              </a:rPr>
              <a:t> control</a:t>
            </a:r>
            <a:r>
              <a:rPr lang="en" sz="1237">
                <a:solidFill>
                  <a:schemeClr val="dk1"/>
                </a:solidFill>
                <a:latin typeface="Red Hat Text SemiBold"/>
                <a:ea typeface="Red Hat Text SemiBold"/>
                <a:cs typeface="Red Hat Text SemiBold"/>
                <a:sym typeface="Red Hat Text SemiBold"/>
              </a:rPr>
              <a:t> </a:t>
            </a:r>
            <a:endParaRPr sz="1237">
              <a:solidFill>
                <a:schemeClr val="dk1"/>
              </a:solidFill>
              <a:latin typeface="Red Hat Text SemiBold"/>
              <a:ea typeface="Red Hat Text SemiBold"/>
              <a:cs typeface="Red Hat Text SemiBold"/>
              <a:sym typeface="Red Hat Text SemiBold"/>
            </a:endParaRPr>
          </a:p>
        </p:txBody>
      </p:sp>
      <p:graphicFrame>
        <p:nvGraphicFramePr>
          <p:cNvPr id="89" name="Google Shape;89;p15"/>
          <p:cNvGraphicFramePr/>
          <p:nvPr/>
        </p:nvGraphicFramePr>
        <p:xfrm>
          <a:off x="295038" y="4120850"/>
          <a:ext cx="3000000" cy="3000000"/>
        </p:xfrm>
        <a:graphic>
          <a:graphicData uri="http://schemas.openxmlformats.org/drawingml/2006/table">
            <a:tbl>
              <a:tblPr>
                <a:noFill/>
                <a:tableStyleId>{C378274A-6AD2-4615-86B7-B9ED8AA71D54}</a:tableStyleId>
              </a:tblPr>
              <a:tblGrid>
                <a:gridCol w="2045775"/>
                <a:gridCol w="2045775"/>
                <a:gridCol w="2045775"/>
              </a:tblGrid>
              <a:tr h="381000">
                <a:tc>
                  <a:txBody>
                    <a:bodyPr/>
                    <a:lstStyle/>
                    <a:p>
                      <a:pPr indent="0" lvl="0" marL="0" rtl="0" algn="l">
                        <a:spcBef>
                          <a:spcPts val="0"/>
                        </a:spcBef>
                        <a:spcAft>
                          <a:spcPts val="0"/>
                        </a:spcAft>
                        <a:buNone/>
                      </a:pPr>
                      <a:r>
                        <a:rPr lang="en" sz="1000">
                          <a:solidFill>
                            <a:schemeClr val="dk1"/>
                          </a:solidFill>
                          <a:latin typeface="Red Hat Text"/>
                          <a:ea typeface="Red Hat Text"/>
                          <a:cs typeface="Red Hat Text"/>
                          <a:sym typeface="Red Hat Text"/>
                        </a:rPr>
                        <a:t>Organizations want solutions that reduce reliance on hyperscalers or proprietary technology stacks, enabling them to avoid vendor lock-in and easily migrate workloads</a:t>
                      </a:r>
                      <a:r>
                        <a:rPr lang="en" sz="1100">
                          <a:solidFill>
                            <a:schemeClr val="dk1"/>
                          </a:solidFill>
                        </a:rPr>
                        <a:t>.</a:t>
                      </a:r>
                      <a:endParaRPr sz="1000">
                        <a:solidFill>
                          <a:schemeClr val="dk1"/>
                        </a:solidFill>
                        <a:latin typeface="Red Hat Text"/>
                        <a:ea typeface="Red Hat Text"/>
                        <a:cs typeface="Red Hat Text"/>
                        <a:sym typeface="Red Hat Text"/>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rgbClr val="9E9E9E"/>
                      </a:solidFill>
                      <a:prstDash val="dot"/>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Red Hat Text"/>
                          <a:ea typeface="Red Hat Text"/>
                          <a:cs typeface="Red Hat Text"/>
                          <a:sym typeface="Red Hat Text"/>
                        </a:rPr>
                        <a:t>Customers are concerned about the security of deployed technology, the risk of backdoors or hidden code, and seek clarity on what to expect from a US-based company regarding security.</a:t>
                      </a:r>
                      <a:endParaRPr sz="1000">
                        <a:solidFill>
                          <a:schemeClr val="dk1"/>
                        </a:solidFill>
                        <a:latin typeface="Red Hat Text"/>
                        <a:ea typeface="Red Hat Text"/>
                        <a:cs typeface="Red Hat Text"/>
                        <a:sym typeface="Red Hat Text"/>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latin typeface="Red Hat Text"/>
                          <a:ea typeface="Red Hat Text"/>
                          <a:cs typeface="Red Hat Text"/>
                          <a:sym typeface="Red Hat Text"/>
                        </a:rPr>
                        <a:t>Customers need technical and contractual proof that their data, applications, models, and hardware are exclusively subject to local law to prevent foreign legal intervention.</a:t>
                      </a:r>
                      <a:endParaRPr sz="1000">
                        <a:latin typeface="Red Hat Text"/>
                        <a:ea typeface="Red Hat Text"/>
                        <a:cs typeface="Red Hat Text"/>
                        <a:sym typeface="Red Hat Text"/>
                      </a:endParaRPr>
                    </a:p>
                    <a:p>
                      <a:pPr indent="0" lvl="0" marL="0" rtl="0" algn="l">
                        <a:spcBef>
                          <a:spcPts val="0"/>
                        </a:spcBef>
                        <a:spcAft>
                          <a:spcPts val="0"/>
                        </a:spcAft>
                        <a:buNone/>
                      </a:pPr>
                      <a:r>
                        <a:t/>
                      </a:r>
                      <a:endParaRPr sz="1000">
                        <a:solidFill>
                          <a:schemeClr val="dk1"/>
                        </a:solidFill>
                        <a:latin typeface="Red Hat Text"/>
                        <a:ea typeface="Red Hat Text"/>
                        <a:cs typeface="Red Hat Text"/>
                        <a:sym typeface="Red Hat Text"/>
                      </a:endParaRPr>
                    </a:p>
                  </a:txBody>
                  <a:tcPr marT="91425" marB="91425" marR="91425" marL="91425">
                    <a:lnL cap="flat" cmpd="sng" w="9525">
                      <a:solidFill>
                        <a:srgbClr val="9E9E9E"/>
                      </a:solidFill>
                      <a:prstDash val="dot"/>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bl>
          </a:graphicData>
        </a:graphic>
      </p:graphicFrame>
      <p:sp>
        <p:nvSpPr>
          <p:cNvPr id="90" name="Google Shape;90;p15"/>
          <p:cNvSpPr/>
          <p:nvPr/>
        </p:nvSpPr>
        <p:spPr>
          <a:xfrm>
            <a:off x="164325" y="5458922"/>
            <a:ext cx="6516900" cy="318000"/>
          </a:xfrm>
          <a:prstGeom prst="roundRect">
            <a:avLst>
              <a:gd fmla="val 16667" name="adj"/>
            </a:avLst>
          </a:prstGeom>
          <a:solidFill>
            <a:srgbClr val="EE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Red Hat Text"/>
                <a:ea typeface="Red Hat Text"/>
                <a:cs typeface="Red Hat Text"/>
                <a:sym typeface="Red Hat Text"/>
              </a:rPr>
              <a:t>Our 4 key advantages </a:t>
            </a:r>
            <a:endParaRPr b="1">
              <a:solidFill>
                <a:srgbClr val="FFFFFF"/>
              </a:solidFill>
              <a:latin typeface="Red Hat Text"/>
              <a:ea typeface="Red Hat Text"/>
              <a:cs typeface="Red Hat Text"/>
              <a:sym typeface="Red Hat Text"/>
            </a:endParaRPr>
          </a:p>
        </p:txBody>
      </p:sp>
      <p:sp>
        <p:nvSpPr>
          <p:cNvPr id="91" name="Google Shape;91;p15"/>
          <p:cNvSpPr txBox="1"/>
          <p:nvPr/>
        </p:nvSpPr>
        <p:spPr>
          <a:xfrm>
            <a:off x="177400" y="6096058"/>
            <a:ext cx="3145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Red Hat Text"/>
                <a:ea typeface="Red Hat Text"/>
                <a:cs typeface="Red Hat Text"/>
                <a:sym typeface="Red Hat Text"/>
              </a:rPr>
              <a:t>Proprietary, "closed" technology stacks harbor hidden risks and vendor dependencies, threatening digital autonomy because they cannot be independently verified. Open source is the only credible path to digital sovereignty, offering the verifiable transparency needed to reduce hidden risk and confirm software is free from malicious code.</a:t>
            </a:r>
            <a:endParaRPr sz="10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000">
              <a:solidFill>
                <a:schemeClr val="dk1"/>
              </a:solidFill>
              <a:latin typeface="Red Hat Text"/>
              <a:ea typeface="Red Hat Text"/>
              <a:cs typeface="Red Hat Text"/>
              <a:sym typeface="Red Hat Text"/>
            </a:endParaRPr>
          </a:p>
        </p:txBody>
      </p:sp>
      <p:sp>
        <p:nvSpPr>
          <p:cNvPr id="92" name="Google Shape;92;p15"/>
          <p:cNvSpPr txBox="1"/>
          <p:nvPr/>
        </p:nvSpPr>
        <p:spPr>
          <a:xfrm>
            <a:off x="177400" y="5787505"/>
            <a:ext cx="2870700" cy="391200"/>
          </a:xfrm>
          <a:prstGeom prst="rect">
            <a:avLst/>
          </a:prstGeom>
          <a:noFill/>
          <a:ln>
            <a:noFill/>
          </a:ln>
        </p:spPr>
        <p:txBody>
          <a:bodyPr anchorCtr="0" anchor="t" bIns="87025" lIns="87025" spcFirstLastPara="1" rIns="87025" wrap="square" tIns="87025">
            <a:noAutofit/>
          </a:bodyPr>
          <a:lstStyle/>
          <a:p>
            <a:pPr indent="0" lvl="0" marL="0" rtl="0" algn="l">
              <a:spcBef>
                <a:spcPts val="0"/>
              </a:spcBef>
              <a:spcAft>
                <a:spcPts val="0"/>
              </a:spcAft>
              <a:buNone/>
            </a:pPr>
            <a:r>
              <a:rPr lang="en" sz="1237">
                <a:solidFill>
                  <a:schemeClr val="dk1"/>
                </a:solidFill>
                <a:latin typeface="Red Hat Text SemiBold"/>
                <a:ea typeface="Red Hat Text SemiBold"/>
                <a:cs typeface="Red Hat Text SemiBold"/>
                <a:sym typeface="Red Hat Text SemiBold"/>
              </a:rPr>
              <a:t>Transparency and auditability</a:t>
            </a:r>
            <a:endParaRPr sz="1237">
              <a:solidFill>
                <a:schemeClr val="dk1"/>
              </a:solidFill>
              <a:latin typeface="Red Hat Text SemiBold"/>
              <a:ea typeface="Red Hat Text SemiBold"/>
              <a:cs typeface="Red Hat Text SemiBold"/>
              <a:sym typeface="Red Hat Text SemiBold"/>
            </a:endParaRPr>
          </a:p>
        </p:txBody>
      </p:sp>
      <p:sp>
        <p:nvSpPr>
          <p:cNvPr id="93" name="Google Shape;93;p15"/>
          <p:cNvSpPr txBox="1"/>
          <p:nvPr/>
        </p:nvSpPr>
        <p:spPr>
          <a:xfrm>
            <a:off x="3516550" y="6096058"/>
            <a:ext cx="3055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ed Hat Text"/>
                <a:ea typeface="Red Hat Text"/>
                <a:cs typeface="Red Hat Text"/>
                <a:sym typeface="Red Hat Text"/>
              </a:rPr>
              <a:t>The Open Hybrid Cloud model ensures unparalleled control through deployment choice, allowing organizations to run applications consistently anywhere—on-premise, local partner clouds, or the edge. This ensures workload portability and the ability to adapt to regulatory changes.</a:t>
            </a:r>
            <a:endParaRPr sz="1000">
              <a:solidFill>
                <a:schemeClr val="dk1"/>
              </a:solidFill>
              <a:latin typeface="Red Hat Text"/>
              <a:ea typeface="Red Hat Text"/>
              <a:cs typeface="Red Hat Text"/>
              <a:sym typeface="Red Hat Text"/>
            </a:endParaRPr>
          </a:p>
        </p:txBody>
      </p:sp>
      <p:sp>
        <p:nvSpPr>
          <p:cNvPr id="94" name="Google Shape;94;p15"/>
          <p:cNvSpPr txBox="1"/>
          <p:nvPr/>
        </p:nvSpPr>
        <p:spPr>
          <a:xfrm>
            <a:off x="3516550" y="5787505"/>
            <a:ext cx="3222900" cy="318000"/>
          </a:xfrm>
          <a:prstGeom prst="rect">
            <a:avLst/>
          </a:prstGeom>
          <a:noFill/>
          <a:ln>
            <a:noFill/>
          </a:ln>
        </p:spPr>
        <p:txBody>
          <a:bodyPr anchorCtr="0" anchor="t" bIns="87025" lIns="87025" spcFirstLastPara="1" rIns="87025" wrap="square" tIns="87025">
            <a:noAutofit/>
          </a:bodyPr>
          <a:lstStyle/>
          <a:p>
            <a:pPr indent="0" lvl="0" marL="0" rtl="0" algn="l">
              <a:spcBef>
                <a:spcPts val="0"/>
              </a:spcBef>
              <a:spcAft>
                <a:spcPts val="0"/>
              </a:spcAft>
              <a:buNone/>
            </a:pPr>
            <a:r>
              <a:rPr lang="en" sz="1237">
                <a:solidFill>
                  <a:schemeClr val="dk1"/>
                </a:solidFill>
                <a:latin typeface="Red Hat Text SemiBold"/>
                <a:ea typeface="Red Hat Text SemiBold"/>
                <a:cs typeface="Red Hat Text SemiBold"/>
                <a:sym typeface="Red Hat Text SemiBold"/>
              </a:rPr>
              <a:t>Control and flexibility</a:t>
            </a:r>
            <a:endParaRPr sz="1237">
              <a:solidFill>
                <a:schemeClr val="dk1"/>
              </a:solidFill>
              <a:latin typeface="Red Hat Text SemiBold"/>
              <a:ea typeface="Red Hat Text SemiBold"/>
              <a:cs typeface="Red Hat Text SemiBold"/>
              <a:sym typeface="Red Hat Text SemiBold"/>
            </a:endParaRPr>
          </a:p>
        </p:txBody>
      </p:sp>
      <p:sp>
        <p:nvSpPr>
          <p:cNvPr id="95" name="Google Shape;95;p15"/>
          <p:cNvSpPr txBox="1"/>
          <p:nvPr/>
        </p:nvSpPr>
        <p:spPr>
          <a:xfrm>
            <a:off x="177400" y="7629908"/>
            <a:ext cx="3145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ed Hat Text"/>
                <a:ea typeface="Red Hat Text"/>
                <a:cs typeface="Red Hat Text"/>
                <a:sym typeface="Red Hat Text"/>
              </a:rPr>
              <a:t>Red Hat enhances organizational resilience and protects critical infrastructure from disruption. Our platform provides comprehensive security, including workload protection, integration with External Key Management Systems (EKMS), and operational resilience through rapid disaster recovery.</a:t>
            </a:r>
            <a:endParaRPr sz="1000">
              <a:solidFill>
                <a:schemeClr val="dk1"/>
              </a:solidFill>
              <a:latin typeface="Red Hat Text"/>
              <a:ea typeface="Red Hat Text"/>
              <a:cs typeface="Red Hat Text"/>
              <a:sym typeface="Red Hat Text"/>
            </a:endParaRPr>
          </a:p>
        </p:txBody>
      </p:sp>
      <p:sp>
        <p:nvSpPr>
          <p:cNvPr id="96" name="Google Shape;96;p15"/>
          <p:cNvSpPr txBox="1"/>
          <p:nvPr/>
        </p:nvSpPr>
        <p:spPr>
          <a:xfrm>
            <a:off x="177400" y="7389058"/>
            <a:ext cx="2870700" cy="391200"/>
          </a:xfrm>
          <a:prstGeom prst="rect">
            <a:avLst/>
          </a:prstGeom>
          <a:noFill/>
          <a:ln>
            <a:noFill/>
          </a:ln>
        </p:spPr>
        <p:txBody>
          <a:bodyPr anchorCtr="0" anchor="t" bIns="87025" lIns="87025" spcFirstLastPara="1" rIns="87025" wrap="square" tIns="87025">
            <a:noAutofit/>
          </a:bodyPr>
          <a:lstStyle/>
          <a:p>
            <a:pPr indent="0" lvl="0" marL="0" rtl="0" algn="l">
              <a:spcBef>
                <a:spcPts val="0"/>
              </a:spcBef>
              <a:spcAft>
                <a:spcPts val="0"/>
              </a:spcAft>
              <a:buNone/>
            </a:pPr>
            <a:r>
              <a:rPr lang="en" sz="1237">
                <a:solidFill>
                  <a:schemeClr val="dk1"/>
                </a:solidFill>
                <a:latin typeface="Red Hat Text SemiBold"/>
                <a:ea typeface="Red Hat Text SemiBold"/>
                <a:cs typeface="Red Hat Text SemiBold"/>
                <a:sym typeface="Red Hat Text SemiBold"/>
              </a:rPr>
              <a:t>Operational resilience and security</a:t>
            </a:r>
            <a:endParaRPr sz="1237">
              <a:solidFill>
                <a:schemeClr val="dk1"/>
              </a:solidFill>
              <a:latin typeface="Red Hat Text SemiBold"/>
              <a:ea typeface="Red Hat Text SemiBold"/>
              <a:cs typeface="Red Hat Text SemiBold"/>
              <a:sym typeface="Red Hat Text SemiBold"/>
            </a:endParaRPr>
          </a:p>
        </p:txBody>
      </p:sp>
      <p:sp>
        <p:nvSpPr>
          <p:cNvPr id="97" name="Google Shape;97;p15"/>
          <p:cNvSpPr txBox="1"/>
          <p:nvPr/>
        </p:nvSpPr>
        <p:spPr>
          <a:xfrm>
            <a:off x="3516550" y="7629900"/>
            <a:ext cx="3055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ed Hat Text"/>
                <a:ea typeface="Red Hat Text"/>
                <a:cs typeface="Red Hat Text"/>
                <a:sym typeface="Red Hat Text"/>
              </a:rPr>
              <a:t>Red Hat maintains a global ecosystem of local partners (CSPs, MSPs, etc.) essential for meeting specific jurisdictional and physical requirements. This is strengthened by offerings like Red Hat Confirmed Sovereign Support in the EU, providing dedicated support by verified EU citizens operating solely within the region.</a:t>
            </a:r>
            <a:endParaRPr sz="1000">
              <a:solidFill>
                <a:schemeClr val="dk1"/>
              </a:solidFill>
              <a:latin typeface="Red Hat Text"/>
              <a:ea typeface="Red Hat Text"/>
              <a:cs typeface="Red Hat Text"/>
              <a:sym typeface="Red Hat Text"/>
            </a:endParaRPr>
          </a:p>
        </p:txBody>
      </p:sp>
      <p:sp>
        <p:nvSpPr>
          <p:cNvPr id="98" name="Google Shape;98;p15"/>
          <p:cNvSpPr txBox="1"/>
          <p:nvPr/>
        </p:nvSpPr>
        <p:spPr>
          <a:xfrm>
            <a:off x="3516550" y="7389058"/>
            <a:ext cx="2870700" cy="391200"/>
          </a:xfrm>
          <a:prstGeom prst="rect">
            <a:avLst/>
          </a:prstGeom>
          <a:noFill/>
          <a:ln>
            <a:noFill/>
          </a:ln>
        </p:spPr>
        <p:txBody>
          <a:bodyPr anchorCtr="0" anchor="t" bIns="87025" lIns="87025" spcFirstLastPara="1" rIns="87025" wrap="square" tIns="87025">
            <a:noAutofit/>
          </a:bodyPr>
          <a:lstStyle/>
          <a:p>
            <a:pPr indent="0" lvl="0" marL="0" rtl="0" algn="l">
              <a:spcBef>
                <a:spcPts val="0"/>
              </a:spcBef>
              <a:spcAft>
                <a:spcPts val="0"/>
              </a:spcAft>
              <a:buNone/>
            </a:pPr>
            <a:r>
              <a:rPr lang="en" sz="1237">
                <a:solidFill>
                  <a:schemeClr val="dk1"/>
                </a:solidFill>
                <a:latin typeface="Red Hat Text SemiBold"/>
                <a:ea typeface="Red Hat Text SemiBold"/>
                <a:cs typeface="Red Hat Text SemiBold"/>
                <a:sym typeface="Red Hat Text SemiBold"/>
              </a:rPr>
              <a:t>Local ecosystem and support</a:t>
            </a:r>
            <a:endParaRPr sz="1237">
              <a:solidFill>
                <a:schemeClr val="dk1"/>
              </a:solidFill>
              <a:latin typeface="Red Hat Text SemiBold"/>
              <a:ea typeface="Red Hat Text SemiBold"/>
              <a:cs typeface="Red Hat Text SemiBold"/>
              <a:sym typeface="Red Hat Text SemiBold"/>
            </a:endParaRPr>
          </a:p>
        </p:txBody>
      </p:sp>
      <p:sp>
        <p:nvSpPr>
          <p:cNvPr id="99" name="Google Shape;99;p15"/>
          <p:cNvSpPr/>
          <p:nvPr/>
        </p:nvSpPr>
        <p:spPr>
          <a:xfrm>
            <a:off x="2282525" y="1157325"/>
            <a:ext cx="2162400" cy="1220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ed Hat Text"/>
                <a:ea typeface="Red Hat Text"/>
                <a:cs typeface="Red Hat Text"/>
                <a:sym typeface="Red Hat Text"/>
              </a:rPr>
              <a:t>AI is shaping national policy and public trust. Customers must control AI data, models, security, and infrastructure in accordance with local laws. </a:t>
            </a:r>
            <a:r>
              <a:rPr lang="en" sz="1000">
                <a:solidFill>
                  <a:srgbClr val="EE0000"/>
                </a:solidFill>
                <a:latin typeface="Red Hat Text"/>
                <a:ea typeface="Red Hat Text"/>
                <a:cs typeface="Red Hat Text"/>
                <a:sym typeface="Red Hat Text"/>
              </a:rPr>
              <a:t>Red Hat AI platform enables customers to deploy AI where data lives - on-prem, in cloud or at the edge.</a:t>
            </a:r>
            <a:endParaRPr sz="1000">
              <a:solidFill>
                <a:srgbClr val="0E101A"/>
              </a:solidFill>
              <a:latin typeface="Red Hat Text"/>
              <a:ea typeface="Red Hat Text"/>
              <a:cs typeface="Red Hat Text"/>
              <a:sym typeface="Red Hat Text"/>
            </a:endParaRPr>
          </a:p>
        </p:txBody>
      </p:sp>
      <p:cxnSp>
        <p:nvCxnSpPr>
          <p:cNvPr id="100" name="Google Shape;100;p15"/>
          <p:cNvCxnSpPr/>
          <p:nvPr/>
        </p:nvCxnSpPr>
        <p:spPr>
          <a:xfrm>
            <a:off x="4416050" y="1162830"/>
            <a:ext cx="0" cy="1220700"/>
          </a:xfrm>
          <a:prstGeom prst="straightConnector1">
            <a:avLst/>
          </a:prstGeom>
          <a:noFill/>
          <a:ln cap="flat" cmpd="sng" w="9525">
            <a:solidFill>
              <a:schemeClr val="dk2"/>
            </a:solidFill>
            <a:prstDash val="dot"/>
            <a:round/>
            <a:headEnd len="med" w="med" type="none"/>
            <a:tailEnd len="med" w="med" type="none"/>
          </a:ln>
        </p:spPr>
      </p:cxnSp>
      <p:sp>
        <p:nvSpPr>
          <p:cNvPr id="101" name="Google Shape;101;p15"/>
          <p:cNvSpPr txBox="1"/>
          <p:nvPr/>
        </p:nvSpPr>
        <p:spPr>
          <a:xfrm>
            <a:off x="4466800" y="1134900"/>
            <a:ext cx="2162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Red Hat Text"/>
                <a:ea typeface="Red Hat Text"/>
                <a:cs typeface="Red Hat Text"/>
                <a:sym typeface="Red Hat Text"/>
              </a:rPr>
              <a:t>Changing global regulations (like GDPR, DORA, NIS2, and the AI Act) make sovereignty a legal requirement. </a:t>
            </a:r>
            <a:r>
              <a:rPr lang="en" sz="1000">
                <a:solidFill>
                  <a:srgbClr val="EE0000"/>
                </a:solidFill>
                <a:latin typeface="Red Hat Text"/>
                <a:ea typeface="Red Hat Text"/>
                <a:cs typeface="Red Hat Text"/>
                <a:sym typeface="Red Hat Text"/>
              </a:rPr>
              <a:t>Sovereignty concerns influence the choice of cloud vendor</a:t>
            </a:r>
            <a:r>
              <a:rPr lang="en" sz="1000">
                <a:solidFill>
                  <a:schemeClr val="dk1"/>
                </a:solidFill>
                <a:latin typeface="Red Hat Text"/>
                <a:ea typeface="Red Hat Text"/>
                <a:cs typeface="Red Hat Text"/>
                <a:sym typeface="Red Hat Text"/>
              </a:rPr>
              <a:t> for a significant number of cloud decision-makers</a:t>
            </a:r>
            <a:endParaRPr sz="10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000">
              <a:solidFill>
                <a:schemeClr val="dk1"/>
              </a:solidFill>
              <a:latin typeface="Red Hat Text"/>
              <a:ea typeface="Red Hat Text"/>
              <a:cs typeface="Red Hat Text"/>
              <a:sym typeface="Red Hat Tex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