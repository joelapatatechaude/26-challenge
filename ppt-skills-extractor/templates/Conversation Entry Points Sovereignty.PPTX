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9144000" cx="6858000"/>
  <p:notesSz cx="6858000" cy="9144000"/>
  <p:embeddedFontLst>
    <p:embeddedFont>
      <p:font typeface="Red Hat Display SemiBold"/>
      <p:regular r:id="rId8"/>
      <p:bold r:id="rId9"/>
      <p:italic r:id="rId10"/>
      <p:boldItalic r:id="rId11"/>
    </p:embeddedFont>
    <p:embeddedFont>
      <p:font typeface="Red Hat Text Medium"/>
      <p:regular r:id="rId12"/>
      <p:bold r:id="rId13"/>
      <p:italic r:id="rId14"/>
      <p:boldItalic r:id="rId15"/>
    </p:embeddedFont>
    <p:embeddedFont>
      <p:font typeface="Red Hat Display Medium"/>
      <p:regular r:id="rId16"/>
      <p:bold r:id="rId17"/>
      <p:italic r:id="rId18"/>
      <p:boldItalic r:id="rId19"/>
    </p:embeddedFont>
    <p:embeddedFont>
      <p:font typeface="Red Hat Display"/>
      <p:regular r:id="rId20"/>
      <p:bold r:id="rId21"/>
      <p:italic r:id="rId22"/>
      <p:boldItalic r:id="rId23"/>
    </p:embeddedFont>
    <p:embeddedFont>
      <p:font typeface="Red Hat Text"/>
      <p:regular r:id="rId24"/>
      <p:bold r:id="rId25"/>
      <p:italic r:id="rId26"/>
      <p:boldItalic r:id="rId27"/>
    </p:embeddedFont>
    <p:embeddedFont>
      <p:font typeface="Red Hat Text SemiBold"/>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747775"/>
          </p15:clr>
        </p15:guide>
        <p15:guide id="2" pos="21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edHatDisplay-regular.fntdata"/><Relationship Id="rId22" Type="http://schemas.openxmlformats.org/officeDocument/2006/relationships/font" Target="fonts/RedHatDisplay-italic.fntdata"/><Relationship Id="rId21" Type="http://schemas.openxmlformats.org/officeDocument/2006/relationships/font" Target="fonts/RedHatDisplay-bold.fntdata"/><Relationship Id="rId24" Type="http://schemas.openxmlformats.org/officeDocument/2006/relationships/font" Target="fonts/RedHatText-regular.fntdata"/><Relationship Id="rId23" Type="http://schemas.openxmlformats.org/officeDocument/2006/relationships/font" Target="fonts/RedHatDisplay-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edHatDisplaySemiBold-bold.fntdata"/><Relationship Id="rId26" Type="http://schemas.openxmlformats.org/officeDocument/2006/relationships/font" Target="fonts/RedHatText-italic.fntdata"/><Relationship Id="rId25" Type="http://schemas.openxmlformats.org/officeDocument/2006/relationships/font" Target="fonts/RedHatText-bold.fntdata"/><Relationship Id="rId28" Type="http://schemas.openxmlformats.org/officeDocument/2006/relationships/font" Target="fonts/RedHatTextSemiBold-regular.fntdata"/><Relationship Id="rId27" Type="http://schemas.openxmlformats.org/officeDocument/2006/relationships/font" Target="fonts/RedHatText-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edHatTextSemiBold-bold.fntdata"/><Relationship Id="rId7" Type="http://schemas.openxmlformats.org/officeDocument/2006/relationships/slide" Target="slides/slide2.xml"/><Relationship Id="rId8" Type="http://schemas.openxmlformats.org/officeDocument/2006/relationships/font" Target="fonts/RedHatDisplaySemiBold-regular.fntdata"/><Relationship Id="rId31" Type="http://schemas.openxmlformats.org/officeDocument/2006/relationships/font" Target="fonts/RedHatTextSemiBold-boldItalic.fntdata"/><Relationship Id="rId30" Type="http://schemas.openxmlformats.org/officeDocument/2006/relationships/font" Target="fonts/RedHatTextSemiBold-italic.fntdata"/><Relationship Id="rId11" Type="http://schemas.openxmlformats.org/officeDocument/2006/relationships/font" Target="fonts/RedHatDisplaySemiBold-boldItalic.fntdata"/><Relationship Id="rId10" Type="http://schemas.openxmlformats.org/officeDocument/2006/relationships/font" Target="fonts/RedHatDisplaySemiBold-italic.fntdata"/><Relationship Id="rId13" Type="http://schemas.openxmlformats.org/officeDocument/2006/relationships/font" Target="fonts/RedHatTextMedium-bold.fntdata"/><Relationship Id="rId12" Type="http://schemas.openxmlformats.org/officeDocument/2006/relationships/font" Target="fonts/RedHatTextMedium-regular.fntdata"/><Relationship Id="rId15" Type="http://schemas.openxmlformats.org/officeDocument/2006/relationships/font" Target="fonts/RedHatTextMedium-boldItalic.fntdata"/><Relationship Id="rId14" Type="http://schemas.openxmlformats.org/officeDocument/2006/relationships/font" Target="fonts/RedHatTextMedium-italic.fntdata"/><Relationship Id="rId17" Type="http://schemas.openxmlformats.org/officeDocument/2006/relationships/font" Target="fonts/RedHatDisplayMedium-bold.fntdata"/><Relationship Id="rId16" Type="http://schemas.openxmlformats.org/officeDocument/2006/relationships/font" Target="fonts/RedHatDisplayMedium-regular.fntdata"/><Relationship Id="rId19" Type="http://schemas.openxmlformats.org/officeDocument/2006/relationships/font" Target="fonts/RedHatDisplayMedium-boldItalic.fntdata"/><Relationship Id="rId18" Type="http://schemas.openxmlformats.org/officeDocument/2006/relationships/font" Target="fonts/RedHatDisplay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47"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124f19bfc_0_0:notes"/>
          <p:cNvSpPr/>
          <p:nvPr>
            <p:ph idx="2" type="sldImg"/>
          </p:nvPr>
        </p:nvSpPr>
        <p:spPr>
          <a:xfrm>
            <a:off x="2143409"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124f19b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124f19bfc_0_51:notes"/>
          <p:cNvSpPr/>
          <p:nvPr>
            <p:ph idx="2" type="sldImg"/>
          </p:nvPr>
        </p:nvSpPr>
        <p:spPr>
          <a:xfrm>
            <a:off x="2143409"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b124f19bf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33781" y="1323689"/>
            <a:ext cx="6390300" cy="36492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33775" y="5038444"/>
            <a:ext cx="6390300" cy="1409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33775" y="3823733"/>
            <a:ext cx="6390300" cy="1496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33775" y="791156"/>
            <a:ext cx="6390300" cy="10182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33775" y="2048844"/>
            <a:ext cx="6390300" cy="60735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33775" y="791156"/>
            <a:ext cx="6390300" cy="10182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33775" y="2048844"/>
            <a:ext cx="3000000" cy="6073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3624300" y="2048844"/>
            <a:ext cx="3000000" cy="6073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33775" y="791156"/>
            <a:ext cx="6390300" cy="10182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33775" y="987733"/>
            <a:ext cx="2106000" cy="134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33775" y="2470400"/>
            <a:ext cx="2106000" cy="5652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367688" y="800267"/>
            <a:ext cx="4776000" cy="72726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429000" y="-222"/>
            <a:ext cx="3429000" cy="9144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99125" y="2192311"/>
            <a:ext cx="3033900" cy="2635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199125" y="4983244"/>
            <a:ext cx="3033900" cy="2195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3704625" y="1287244"/>
            <a:ext cx="2877900" cy="6569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33775" y="7521022"/>
            <a:ext cx="4499100" cy="1075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33775" y="1966444"/>
            <a:ext cx="6390300" cy="34908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33775" y="5603956"/>
            <a:ext cx="6390300" cy="23124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33775" y="791156"/>
            <a:ext cx="6390300" cy="1018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33775" y="2048844"/>
            <a:ext cx="6390300" cy="60735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6354343" y="8290163"/>
            <a:ext cx="411600" cy="699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601788" y="230711"/>
            <a:ext cx="16545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Red Hat Display"/>
              <a:ea typeface="Red Hat Display"/>
              <a:cs typeface="Red Hat Display"/>
              <a:sym typeface="Red Hat Display"/>
            </a:endParaRPr>
          </a:p>
        </p:txBody>
      </p:sp>
      <p:sp>
        <p:nvSpPr>
          <p:cNvPr id="55" name="Google Shape;55;p13"/>
          <p:cNvSpPr/>
          <p:nvPr/>
        </p:nvSpPr>
        <p:spPr>
          <a:xfrm>
            <a:off x="0" y="1117278"/>
            <a:ext cx="6858000" cy="265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txBox="1"/>
          <p:nvPr/>
        </p:nvSpPr>
        <p:spPr>
          <a:xfrm>
            <a:off x="0" y="1052275"/>
            <a:ext cx="68580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SemiBold"/>
                <a:ea typeface="Red Hat Text SemiBold"/>
                <a:cs typeface="Red Hat Text SemiBold"/>
                <a:sym typeface="Red Hat Text SemiBold"/>
              </a:rPr>
              <a:t>Description</a:t>
            </a:r>
            <a:r>
              <a:rPr lang="en" sz="1200">
                <a:solidFill>
                  <a:schemeClr val="dk1"/>
                </a:solidFill>
                <a:latin typeface="Red Hat Text"/>
                <a:ea typeface="Red Hat Text"/>
                <a:cs typeface="Red Hat Text"/>
                <a:sym typeface="Red Hat Text"/>
              </a:rPr>
              <a:t>: </a:t>
            </a:r>
            <a:r>
              <a:rPr lang="en" sz="1200">
                <a:solidFill>
                  <a:schemeClr val="dk1"/>
                </a:solidFill>
                <a:latin typeface="Red Hat Text"/>
                <a:ea typeface="Red Hat Text"/>
                <a:cs typeface="Red Hat Text"/>
                <a:sym typeface="Red Hat Text"/>
              </a:rPr>
              <a:t>Ensure governance and data residency are under jurisdictional control.</a:t>
            </a:r>
            <a:endParaRPr sz="1200">
              <a:solidFill>
                <a:schemeClr val="dk1"/>
              </a:solidFill>
              <a:latin typeface="Red Hat Text"/>
              <a:ea typeface="Red Hat Text"/>
              <a:cs typeface="Red Hat Text"/>
              <a:sym typeface="Red Hat Text"/>
            </a:endParaRPr>
          </a:p>
        </p:txBody>
      </p:sp>
      <p:sp>
        <p:nvSpPr>
          <p:cNvPr id="57" name="Google Shape;57;p13"/>
          <p:cNvSpPr txBox="1"/>
          <p:nvPr/>
        </p:nvSpPr>
        <p:spPr>
          <a:xfrm>
            <a:off x="448850" y="1539069"/>
            <a:ext cx="962700" cy="4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Listen for: </a:t>
            </a:r>
            <a:endParaRPr sz="1200">
              <a:solidFill>
                <a:schemeClr val="dk1"/>
              </a:solidFill>
              <a:latin typeface="Red Hat Text"/>
              <a:ea typeface="Red Hat Text"/>
              <a:cs typeface="Red Hat Text"/>
              <a:sym typeface="Red Hat Text"/>
            </a:endParaRPr>
          </a:p>
        </p:txBody>
      </p:sp>
      <p:pic>
        <p:nvPicPr>
          <p:cNvPr id="58" name="Google Shape;58;p13"/>
          <p:cNvPicPr preferRelativeResize="0"/>
          <p:nvPr/>
        </p:nvPicPr>
        <p:blipFill rotWithShape="1">
          <a:blip r:embed="rId3">
            <a:alphaModFix/>
          </a:blip>
          <a:srcRect b="0" l="0" r="0" t="0"/>
          <a:stretch/>
        </p:blipFill>
        <p:spPr>
          <a:xfrm>
            <a:off x="140288" y="1441127"/>
            <a:ext cx="294675" cy="294675"/>
          </a:xfrm>
          <a:prstGeom prst="rect">
            <a:avLst/>
          </a:prstGeom>
          <a:noFill/>
          <a:ln>
            <a:noFill/>
          </a:ln>
        </p:spPr>
      </p:pic>
      <p:pic>
        <p:nvPicPr>
          <p:cNvPr id="59" name="Google Shape;59;p13"/>
          <p:cNvPicPr preferRelativeResize="0"/>
          <p:nvPr/>
        </p:nvPicPr>
        <p:blipFill rotWithShape="1">
          <a:blip r:embed="rId4">
            <a:alphaModFix/>
          </a:blip>
          <a:srcRect b="0" l="0" r="0" t="0"/>
          <a:stretch/>
        </p:blipFill>
        <p:spPr>
          <a:xfrm>
            <a:off x="2568162" y="1441128"/>
            <a:ext cx="294675" cy="294675"/>
          </a:xfrm>
          <a:prstGeom prst="rect">
            <a:avLst/>
          </a:prstGeom>
          <a:noFill/>
          <a:ln>
            <a:noFill/>
          </a:ln>
        </p:spPr>
      </p:pic>
      <p:sp>
        <p:nvSpPr>
          <p:cNvPr id="60" name="Google Shape;60;p13"/>
          <p:cNvSpPr txBox="1"/>
          <p:nvPr/>
        </p:nvSpPr>
        <p:spPr>
          <a:xfrm>
            <a:off x="2876725" y="1490007"/>
            <a:ext cx="13521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Focus the </a:t>
            </a:r>
            <a:endParaRPr sz="1200">
              <a:solidFill>
                <a:schemeClr val="dk1"/>
              </a:solidFill>
              <a:latin typeface="Red Hat Display SemiBold"/>
              <a:ea typeface="Red Hat Display SemiBold"/>
              <a:cs typeface="Red Hat Display SemiBold"/>
              <a:sym typeface="Red Hat Display SemiBold"/>
            </a:endParaRPr>
          </a:p>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conversation on:</a:t>
            </a:r>
            <a:endParaRPr sz="1200">
              <a:solidFill>
                <a:schemeClr val="dk1"/>
              </a:solidFill>
              <a:latin typeface="Red Hat Display"/>
              <a:ea typeface="Red Hat Display"/>
              <a:cs typeface="Red Hat Display"/>
              <a:sym typeface="Red Hat Display"/>
            </a:endParaRPr>
          </a:p>
        </p:txBody>
      </p:sp>
      <p:pic>
        <p:nvPicPr>
          <p:cNvPr id="61" name="Google Shape;61;p13"/>
          <p:cNvPicPr preferRelativeResize="0"/>
          <p:nvPr/>
        </p:nvPicPr>
        <p:blipFill rotWithShape="1">
          <a:blip r:embed="rId5">
            <a:alphaModFix/>
          </a:blip>
          <a:srcRect b="0" l="0" r="0" t="0"/>
          <a:stretch/>
        </p:blipFill>
        <p:spPr>
          <a:xfrm flipH="1">
            <a:off x="4882283" y="1402075"/>
            <a:ext cx="294675" cy="294630"/>
          </a:xfrm>
          <a:prstGeom prst="rect">
            <a:avLst/>
          </a:prstGeom>
          <a:noFill/>
          <a:ln>
            <a:noFill/>
          </a:ln>
        </p:spPr>
      </p:pic>
      <p:sp>
        <p:nvSpPr>
          <p:cNvPr id="62" name="Google Shape;62;p13"/>
          <p:cNvSpPr txBox="1"/>
          <p:nvPr/>
        </p:nvSpPr>
        <p:spPr>
          <a:xfrm>
            <a:off x="5224475" y="1459400"/>
            <a:ext cx="16545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How Red Hat </a:t>
            </a:r>
            <a:br>
              <a:rPr lang="en" sz="1200">
                <a:solidFill>
                  <a:schemeClr val="dk1"/>
                </a:solidFill>
                <a:latin typeface="Red Hat Display SemiBold"/>
                <a:ea typeface="Red Hat Display SemiBold"/>
                <a:cs typeface="Red Hat Display SemiBold"/>
                <a:sym typeface="Red Hat Display SemiBold"/>
              </a:rPr>
            </a:br>
            <a:r>
              <a:rPr lang="en" sz="1200">
                <a:solidFill>
                  <a:schemeClr val="dk1"/>
                </a:solidFill>
                <a:latin typeface="Red Hat Display SemiBold"/>
                <a:ea typeface="Red Hat Display SemiBold"/>
                <a:cs typeface="Red Hat Display SemiBold"/>
                <a:sym typeface="Red Hat Display SemiBold"/>
              </a:rPr>
              <a:t>helps</a:t>
            </a:r>
            <a:endParaRPr sz="1200">
              <a:solidFill>
                <a:schemeClr val="dk1"/>
              </a:solidFill>
              <a:latin typeface="Red Hat Display SemiBold"/>
              <a:ea typeface="Red Hat Display SemiBold"/>
              <a:cs typeface="Red Hat Display SemiBold"/>
              <a:sym typeface="Red Hat Display SemiBold"/>
            </a:endParaRPr>
          </a:p>
        </p:txBody>
      </p:sp>
      <p:sp>
        <p:nvSpPr>
          <p:cNvPr id="63" name="Google Shape;63;p13"/>
          <p:cNvSpPr txBox="1"/>
          <p:nvPr/>
        </p:nvSpPr>
        <p:spPr>
          <a:xfrm>
            <a:off x="-12875" y="3850150"/>
            <a:ext cx="6887700" cy="3930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Data Sovereignty</a:t>
            </a:r>
            <a:r>
              <a:rPr lang="en" sz="1200">
                <a:solidFill>
                  <a:schemeClr val="dk1"/>
                </a:solidFill>
                <a:latin typeface="Red Hat Display Medium"/>
                <a:ea typeface="Red Hat Display Medium"/>
                <a:cs typeface="Red Hat Display Medium"/>
                <a:sym typeface="Red Hat Display Medium"/>
              </a:rPr>
              <a:t>: </a:t>
            </a:r>
            <a:r>
              <a:rPr lang="en" sz="1200">
                <a:solidFill>
                  <a:schemeClr val="dk1"/>
                </a:solidFill>
                <a:latin typeface="Red Hat Text"/>
                <a:ea typeface="Red Hat Text"/>
                <a:cs typeface="Red Hat Text"/>
                <a:sym typeface="Red Hat Text"/>
              </a:rPr>
              <a:t>Data Residency</a:t>
            </a:r>
            <a:endParaRPr sz="1200">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a:solidFill>
                <a:schemeClr val="dk1"/>
              </a:solidFill>
              <a:latin typeface="Red Hat Text"/>
              <a:ea typeface="Red Hat Text"/>
              <a:cs typeface="Red Hat Text"/>
              <a:sym typeface="Red Hat Text"/>
            </a:endParaRPr>
          </a:p>
        </p:txBody>
      </p:sp>
      <p:sp>
        <p:nvSpPr>
          <p:cNvPr id="64" name="Google Shape;64;p13"/>
          <p:cNvSpPr/>
          <p:nvPr/>
        </p:nvSpPr>
        <p:spPr>
          <a:xfrm>
            <a:off x="0" y="-3950"/>
            <a:ext cx="6858000" cy="65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ed Hat Display"/>
                <a:ea typeface="Red Hat Display"/>
                <a:cs typeface="Red Hat Display"/>
                <a:sym typeface="Red Hat Display"/>
              </a:rPr>
              <a:t>Sovereignty</a:t>
            </a:r>
            <a:r>
              <a:rPr b="1" lang="en">
                <a:solidFill>
                  <a:schemeClr val="lt1"/>
                </a:solidFill>
                <a:latin typeface="Red Hat Display"/>
                <a:ea typeface="Red Hat Display"/>
                <a:cs typeface="Red Hat Display"/>
                <a:sym typeface="Red Hat Display"/>
              </a:rPr>
              <a:t> conversation entry points </a:t>
            </a:r>
            <a:endParaRPr b="1">
              <a:solidFill>
                <a:schemeClr val="lt1"/>
              </a:solidFill>
              <a:latin typeface="Red Hat Display"/>
              <a:ea typeface="Red Hat Display"/>
              <a:cs typeface="Red Hat Display"/>
              <a:sym typeface="Red Hat Display"/>
            </a:endParaRPr>
          </a:p>
        </p:txBody>
      </p:sp>
      <p:sp>
        <p:nvSpPr>
          <p:cNvPr id="65" name="Google Shape;65;p13"/>
          <p:cNvSpPr txBox="1"/>
          <p:nvPr/>
        </p:nvSpPr>
        <p:spPr>
          <a:xfrm>
            <a:off x="377750" y="2141143"/>
            <a:ext cx="1932900" cy="10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ed Hat Text"/>
                <a:ea typeface="Red Hat Text"/>
                <a:cs typeface="Red Hat Text"/>
                <a:sym typeface="Red Hat Text"/>
              </a:rPr>
              <a:t>“</a:t>
            </a:r>
            <a:r>
              <a:rPr lang="en" sz="1200">
                <a:solidFill>
                  <a:schemeClr val="dk1"/>
                </a:solidFill>
                <a:latin typeface="Red Hat Text"/>
                <a:ea typeface="Red Hat Text"/>
                <a:cs typeface="Red Hat Text"/>
                <a:sym typeface="Red Hat Text"/>
              </a:rPr>
              <a:t>We require precise control over data location and technology needed to ensure our data and workloads remain within specific national or jurisdictional boundaries”</a:t>
            </a:r>
            <a:endParaRPr sz="1200">
              <a:solidFill>
                <a:schemeClr val="dk1"/>
              </a:solidFill>
              <a:latin typeface="Red Hat Text"/>
              <a:ea typeface="Red Hat Text"/>
              <a:cs typeface="Red Hat Text"/>
              <a:sym typeface="Red Hat Text"/>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ed Hat Text"/>
              <a:ea typeface="Red Hat Text"/>
              <a:cs typeface="Red Hat Text"/>
              <a:sym typeface="Red Hat Text"/>
            </a:endParaRPr>
          </a:p>
        </p:txBody>
      </p:sp>
      <p:sp>
        <p:nvSpPr>
          <p:cNvPr id="66" name="Google Shape;66;p13"/>
          <p:cNvSpPr txBox="1"/>
          <p:nvPr/>
        </p:nvSpPr>
        <p:spPr>
          <a:xfrm>
            <a:off x="2569475" y="2174775"/>
            <a:ext cx="1848600" cy="81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ed Hat Text"/>
                <a:ea typeface="Red Hat Text"/>
                <a:cs typeface="Red Hat Text"/>
                <a:sym typeface="Red Hat Text"/>
              </a:rPr>
              <a:t>Operational control</a:t>
            </a:r>
            <a:endParaRPr sz="1200">
              <a:solidFill>
                <a:schemeClr val="dk1"/>
              </a:solidFill>
              <a:latin typeface="Red Hat Text"/>
              <a:ea typeface="Red Hat Text"/>
              <a:cs typeface="Red Hat Text"/>
              <a:sym typeface="Red Hat Text"/>
            </a:endParaRPr>
          </a:p>
          <a:p>
            <a:pPr indent="0" lvl="0" marL="0" rtl="0" algn="ctr">
              <a:spcBef>
                <a:spcPts val="0"/>
              </a:spcBef>
              <a:spcAft>
                <a:spcPts val="0"/>
              </a:spcAft>
              <a:buNone/>
            </a:pPr>
            <a:r>
              <a:t/>
            </a:r>
            <a:endParaRPr sz="1200">
              <a:solidFill>
                <a:schemeClr val="dk1"/>
              </a:solidFill>
              <a:latin typeface="Red Hat Text"/>
              <a:ea typeface="Red Hat Text"/>
              <a:cs typeface="Red Hat Text"/>
              <a:sym typeface="Red Hat Text"/>
            </a:endParaRPr>
          </a:p>
        </p:txBody>
      </p:sp>
      <p:sp>
        <p:nvSpPr>
          <p:cNvPr id="67" name="Google Shape;67;p13"/>
          <p:cNvSpPr txBox="1"/>
          <p:nvPr/>
        </p:nvSpPr>
        <p:spPr>
          <a:xfrm>
            <a:off x="4750725" y="2107243"/>
            <a:ext cx="2107200" cy="10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Red Hat's core philosophy is the open hybrid cloud, putting you in control of where your data resides—on-premise (private cloud), a local public cloud, or at the network edge.</a:t>
            </a:r>
            <a:endParaRPr sz="1200"/>
          </a:p>
        </p:txBody>
      </p:sp>
      <p:sp>
        <p:nvSpPr>
          <p:cNvPr id="68" name="Google Shape;68;p13"/>
          <p:cNvSpPr/>
          <p:nvPr/>
        </p:nvSpPr>
        <p:spPr>
          <a:xfrm>
            <a:off x="0" y="5995205"/>
            <a:ext cx="6858000" cy="2430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13"/>
          <p:cNvSpPr txBox="1"/>
          <p:nvPr/>
        </p:nvSpPr>
        <p:spPr>
          <a:xfrm>
            <a:off x="53" y="4960344"/>
            <a:ext cx="68580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SemiBold"/>
                <a:ea typeface="Red Hat Text SemiBold"/>
                <a:cs typeface="Red Hat Text SemiBold"/>
                <a:sym typeface="Red Hat Text SemiBold"/>
              </a:rPr>
              <a:t>Description</a:t>
            </a:r>
            <a:r>
              <a:rPr lang="en" sz="1200">
                <a:solidFill>
                  <a:schemeClr val="dk1"/>
                </a:solidFill>
                <a:latin typeface="Red Hat Text"/>
                <a:ea typeface="Red Hat Text"/>
                <a:cs typeface="Red Hat Text"/>
                <a:sym typeface="Red Hat Text"/>
              </a:rPr>
              <a:t>: </a:t>
            </a:r>
            <a:r>
              <a:rPr lang="en" sz="1100">
                <a:solidFill>
                  <a:schemeClr val="dk1"/>
                </a:solidFill>
                <a:highlight>
                  <a:schemeClr val="lt1"/>
                </a:highlight>
                <a:latin typeface="Red Hat Text"/>
                <a:ea typeface="Red Hat Text"/>
                <a:cs typeface="Red Hat Text"/>
                <a:sym typeface="Red Hat Text"/>
              </a:rPr>
              <a:t>Extend sovereignty to AI workloads, ensuring the entire lifecycle—from training proprietary models to serving inference— adheres to residency, governance, and ethical rules.</a:t>
            </a:r>
            <a:endParaRPr sz="1100">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sz="1200">
              <a:solidFill>
                <a:schemeClr val="dk1"/>
              </a:solidFill>
              <a:latin typeface="Red Hat Text"/>
              <a:ea typeface="Red Hat Text"/>
              <a:cs typeface="Red Hat Text"/>
              <a:sym typeface="Red Hat Text"/>
            </a:endParaRPr>
          </a:p>
        </p:txBody>
      </p:sp>
      <p:sp>
        <p:nvSpPr>
          <p:cNvPr id="70" name="Google Shape;70;p13"/>
          <p:cNvSpPr txBox="1"/>
          <p:nvPr/>
        </p:nvSpPr>
        <p:spPr>
          <a:xfrm>
            <a:off x="401328" y="5605308"/>
            <a:ext cx="962700" cy="4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Listen for: </a:t>
            </a:r>
            <a:endParaRPr sz="1200">
              <a:solidFill>
                <a:schemeClr val="dk1"/>
              </a:solidFill>
              <a:latin typeface="Red Hat Text"/>
              <a:ea typeface="Red Hat Text"/>
              <a:cs typeface="Red Hat Text"/>
              <a:sym typeface="Red Hat Text"/>
            </a:endParaRPr>
          </a:p>
        </p:txBody>
      </p:sp>
      <p:pic>
        <p:nvPicPr>
          <p:cNvPr id="71" name="Google Shape;71;p13"/>
          <p:cNvPicPr preferRelativeResize="0"/>
          <p:nvPr/>
        </p:nvPicPr>
        <p:blipFill rotWithShape="1">
          <a:blip r:embed="rId3">
            <a:alphaModFix/>
          </a:blip>
          <a:srcRect b="0" l="0" r="0" t="0"/>
          <a:stretch/>
        </p:blipFill>
        <p:spPr>
          <a:xfrm>
            <a:off x="126399" y="5493445"/>
            <a:ext cx="322450" cy="322493"/>
          </a:xfrm>
          <a:prstGeom prst="rect">
            <a:avLst/>
          </a:prstGeom>
          <a:noFill/>
          <a:ln>
            <a:noFill/>
          </a:ln>
        </p:spPr>
      </p:pic>
      <p:pic>
        <p:nvPicPr>
          <p:cNvPr id="72" name="Google Shape;72;p13"/>
          <p:cNvPicPr preferRelativeResize="0"/>
          <p:nvPr/>
        </p:nvPicPr>
        <p:blipFill rotWithShape="1">
          <a:blip r:embed="rId4">
            <a:alphaModFix/>
          </a:blip>
          <a:srcRect b="0" l="0" r="0" t="0"/>
          <a:stretch/>
        </p:blipFill>
        <p:spPr>
          <a:xfrm>
            <a:off x="2554274" y="5543921"/>
            <a:ext cx="322450" cy="322493"/>
          </a:xfrm>
          <a:prstGeom prst="rect">
            <a:avLst/>
          </a:prstGeom>
          <a:noFill/>
          <a:ln>
            <a:noFill/>
          </a:ln>
        </p:spPr>
      </p:pic>
      <p:sp>
        <p:nvSpPr>
          <p:cNvPr id="73" name="Google Shape;73;p13"/>
          <p:cNvSpPr txBox="1"/>
          <p:nvPr/>
        </p:nvSpPr>
        <p:spPr>
          <a:xfrm>
            <a:off x="2921440" y="5525796"/>
            <a:ext cx="13521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Focus the </a:t>
            </a:r>
            <a:endParaRPr sz="1200">
              <a:solidFill>
                <a:schemeClr val="dk1"/>
              </a:solidFill>
              <a:latin typeface="Red Hat Display SemiBold"/>
              <a:ea typeface="Red Hat Display SemiBold"/>
              <a:cs typeface="Red Hat Display SemiBold"/>
              <a:sym typeface="Red Hat Display SemiBold"/>
            </a:endParaRPr>
          </a:p>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conversation on:</a:t>
            </a:r>
            <a:endParaRPr sz="1200">
              <a:solidFill>
                <a:schemeClr val="dk1"/>
              </a:solidFill>
              <a:latin typeface="Red Hat Display"/>
              <a:ea typeface="Red Hat Display"/>
              <a:cs typeface="Red Hat Display"/>
              <a:sym typeface="Red Hat Display"/>
            </a:endParaRPr>
          </a:p>
        </p:txBody>
      </p:sp>
      <p:pic>
        <p:nvPicPr>
          <p:cNvPr id="74" name="Google Shape;74;p13"/>
          <p:cNvPicPr preferRelativeResize="0"/>
          <p:nvPr/>
        </p:nvPicPr>
        <p:blipFill rotWithShape="1">
          <a:blip r:embed="rId5">
            <a:alphaModFix/>
          </a:blip>
          <a:srcRect b="0" l="0" r="0" t="0"/>
          <a:stretch/>
        </p:blipFill>
        <p:spPr>
          <a:xfrm flipH="1">
            <a:off x="4882281" y="5571745"/>
            <a:ext cx="294675" cy="294675"/>
          </a:xfrm>
          <a:prstGeom prst="rect">
            <a:avLst/>
          </a:prstGeom>
          <a:noFill/>
          <a:ln>
            <a:noFill/>
          </a:ln>
        </p:spPr>
      </p:pic>
      <p:sp>
        <p:nvSpPr>
          <p:cNvPr id="75" name="Google Shape;75;p13"/>
          <p:cNvSpPr txBox="1"/>
          <p:nvPr/>
        </p:nvSpPr>
        <p:spPr>
          <a:xfrm>
            <a:off x="5133151" y="5566875"/>
            <a:ext cx="17457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How Red Hat </a:t>
            </a:r>
            <a:br>
              <a:rPr lang="en" sz="1200">
                <a:solidFill>
                  <a:schemeClr val="dk1"/>
                </a:solidFill>
                <a:latin typeface="Red Hat Display SemiBold"/>
                <a:ea typeface="Red Hat Display SemiBold"/>
                <a:cs typeface="Red Hat Display SemiBold"/>
                <a:sym typeface="Red Hat Display SemiBold"/>
              </a:rPr>
            </a:br>
            <a:r>
              <a:rPr lang="en" sz="1200">
                <a:solidFill>
                  <a:schemeClr val="dk1"/>
                </a:solidFill>
                <a:latin typeface="Red Hat Display SemiBold"/>
                <a:ea typeface="Red Hat Display SemiBold"/>
                <a:cs typeface="Red Hat Display SemiBold"/>
                <a:sym typeface="Red Hat Display SemiBold"/>
              </a:rPr>
              <a:t>helps</a:t>
            </a:r>
            <a:endParaRPr sz="1200">
              <a:solidFill>
                <a:schemeClr val="dk1"/>
              </a:solidFill>
              <a:latin typeface="Red Hat Display SemiBold"/>
              <a:ea typeface="Red Hat Display SemiBold"/>
              <a:cs typeface="Red Hat Display SemiBold"/>
              <a:sym typeface="Red Hat Display SemiBold"/>
            </a:endParaRPr>
          </a:p>
        </p:txBody>
      </p:sp>
      <p:sp>
        <p:nvSpPr>
          <p:cNvPr id="76" name="Google Shape;76;p13"/>
          <p:cNvSpPr txBox="1"/>
          <p:nvPr/>
        </p:nvSpPr>
        <p:spPr>
          <a:xfrm>
            <a:off x="-12725" y="8195625"/>
            <a:ext cx="6887700" cy="449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Medium"/>
                <a:ea typeface="Red Hat Text Medium"/>
                <a:cs typeface="Red Hat Text Medium"/>
                <a:sym typeface="Red Hat Text Medium"/>
              </a:rPr>
              <a:t>Sovereign AI</a:t>
            </a:r>
            <a:r>
              <a:rPr lang="en" sz="1200">
                <a:solidFill>
                  <a:schemeClr val="dk1"/>
                </a:solidFill>
                <a:latin typeface="Red Hat Text"/>
                <a:ea typeface="Red Hat Text"/>
                <a:cs typeface="Red Hat Text"/>
                <a:sym typeface="Red Hat Text"/>
              </a:rPr>
              <a:t>: Residency and Transparency</a:t>
            </a:r>
            <a:endParaRPr sz="1200">
              <a:solidFill>
                <a:schemeClr val="dk1"/>
              </a:solidFill>
              <a:latin typeface="Red Hat Text"/>
              <a:ea typeface="Red Hat Text"/>
              <a:cs typeface="Red Hat Text"/>
              <a:sym typeface="Red Hat Text"/>
            </a:endParaRPr>
          </a:p>
        </p:txBody>
      </p:sp>
      <p:sp>
        <p:nvSpPr>
          <p:cNvPr id="77" name="Google Shape;77;p13"/>
          <p:cNvSpPr txBox="1"/>
          <p:nvPr/>
        </p:nvSpPr>
        <p:spPr>
          <a:xfrm>
            <a:off x="322488" y="6109626"/>
            <a:ext cx="1990200" cy="15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“We need a consistent AI/MLOps environment with VPC control for enhanced monitoring, data/model residency, and network traffic management within our private cloud to ensure digital sovereignty.”</a:t>
            </a:r>
            <a:endParaRPr sz="1200"/>
          </a:p>
        </p:txBody>
      </p:sp>
      <p:sp>
        <p:nvSpPr>
          <p:cNvPr id="78" name="Google Shape;78;p13"/>
          <p:cNvSpPr txBox="1"/>
          <p:nvPr/>
        </p:nvSpPr>
        <p:spPr>
          <a:xfrm>
            <a:off x="2670724" y="6241125"/>
            <a:ext cx="1848600" cy="8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MLOps platform and model transparency</a:t>
            </a:r>
            <a:endParaRPr sz="1200">
              <a:solidFill>
                <a:schemeClr val="dk1"/>
              </a:solidFill>
              <a:latin typeface="Red Hat Text"/>
              <a:ea typeface="Red Hat Text"/>
              <a:cs typeface="Red Hat Text"/>
              <a:sym typeface="Red Hat Text"/>
            </a:endParaRPr>
          </a:p>
        </p:txBody>
      </p:sp>
      <p:sp>
        <p:nvSpPr>
          <p:cNvPr id="79" name="Google Shape;79;p13"/>
          <p:cNvSpPr txBox="1"/>
          <p:nvPr/>
        </p:nvSpPr>
        <p:spPr>
          <a:xfrm>
            <a:off x="4825513" y="6249654"/>
            <a:ext cx="1990200" cy="13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Red Hat OpenShift AI offers enhanced control over the software stack, data, and models. Transparency is ensured as customers can examine, modify, and audit all aspects of the AI environment, from the OS to model serving logic.</a:t>
            </a:r>
            <a:endParaRPr sz="1200"/>
          </a:p>
        </p:txBody>
      </p:sp>
      <p:sp>
        <p:nvSpPr>
          <p:cNvPr id="80" name="Google Shape;80;p13"/>
          <p:cNvSpPr txBox="1"/>
          <p:nvPr/>
        </p:nvSpPr>
        <p:spPr>
          <a:xfrm>
            <a:off x="-5322604" y="10132714"/>
            <a:ext cx="67989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TDPs</a:t>
            </a:r>
            <a:r>
              <a:rPr lang="en" sz="1200">
                <a:solidFill>
                  <a:schemeClr val="dk1"/>
                </a:solidFill>
                <a:latin typeface="Red Hat Display Medium"/>
                <a:ea typeface="Red Hat Display Medium"/>
                <a:cs typeface="Red Hat Display Medium"/>
                <a:sym typeface="Red Hat Display Medium"/>
              </a:rPr>
              <a:t>:</a:t>
            </a:r>
            <a:r>
              <a:rPr lang="en" sz="1200">
                <a:solidFill>
                  <a:schemeClr val="dk1"/>
                </a:solidFill>
                <a:latin typeface="Red Hat Text"/>
                <a:ea typeface="Red Hat Text"/>
                <a:cs typeface="Red Hat Text"/>
                <a:sym typeface="Red Hat Text"/>
              </a:rPr>
              <a:t> Application Platform, Automation, AI Platform</a:t>
            </a:r>
            <a:endParaRPr sz="1200">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sz="1200">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a:solidFill>
                <a:schemeClr val="dk1"/>
              </a:solidFill>
              <a:latin typeface="Red Hat Text"/>
              <a:ea typeface="Red Hat Text"/>
              <a:cs typeface="Red Hat Text"/>
              <a:sym typeface="Red Hat Text"/>
            </a:endParaRPr>
          </a:p>
        </p:txBody>
      </p:sp>
      <p:sp>
        <p:nvSpPr>
          <p:cNvPr id="81" name="Google Shape;81;p13"/>
          <p:cNvSpPr/>
          <p:nvPr/>
        </p:nvSpPr>
        <p:spPr>
          <a:xfrm>
            <a:off x="0" y="654350"/>
            <a:ext cx="6858000" cy="337200"/>
          </a:xfrm>
          <a:prstGeom prst="rect">
            <a:avLst/>
          </a:prstGeom>
          <a:solidFill>
            <a:srgbClr val="EE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Use case: Data Sovereignty</a:t>
            </a:r>
            <a:endParaRPr b="1">
              <a:solidFill>
                <a:schemeClr val="lt1"/>
              </a:solidFill>
              <a:latin typeface="Red Hat Text"/>
              <a:ea typeface="Red Hat Text"/>
              <a:cs typeface="Red Hat Text"/>
              <a:sym typeface="Red Hat Text"/>
            </a:endParaRPr>
          </a:p>
        </p:txBody>
      </p:sp>
      <p:sp>
        <p:nvSpPr>
          <p:cNvPr id="82" name="Google Shape;82;p13"/>
          <p:cNvSpPr/>
          <p:nvPr/>
        </p:nvSpPr>
        <p:spPr>
          <a:xfrm>
            <a:off x="-12725" y="4552855"/>
            <a:ext cx="6858000" cy="337200"/>
          </a:xfrm>
          <a:prstGeom prst="rect">
            <a:avLst/>
          </a:prstGeom>
          <a:solidFill>
            <a:srgbClr val="EE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Use case: Sovereign AI</a:t>
            </a:r>
            <a:endParaRPr b="1">
              <a:solidFill>
                <a:schemeClr val="lt1"/>
              </a:solidFill>
              <a:latin typeface="Red Hat Text"/>
              <a:ea typeface="Red Hat Text"/>
              <a:cs typeface="Red Hat Text"/>
              <a:sym typeface="Red Hat Text"/>
            </a:endParaRPr>
          </a:p>
        </p:txBody>
      </p:sp>
      <p:pic>
        <p:nvPicPr>
          <p:cNvPr id="83" name="Google Shape;83;p13" title="RedHat_favicon_0319.Large-logo-transparent.png"/>
          <p:cNvPicPr preferRelativeResize="0"/>
          <p:nvPr/>
        </p:nvPicPr>
        <p:blipFill>
          <a:blip r:embed="rId6">
            <a:alphaModFix/>
          </a:blip>
          <a:stretch>
            <a:fillRect/>
          </a:stretch>
        </p:blipFill>
        <p:spPr>
          <a:xfrm>
            <a:off x="6076958" y="55708"/>
            <a:ext cx="537950" cy="537925"/>
          </a:xfrm>
          <a:prstGeom prst="rect">
            <a:avLst/>
          </a:prstGeom>
          <a:noFill/>
          <a:ln>
            <a:noFill/>
          </a:ln>
        </p:spPr>
      </p:pic>
      <p:cxnSp>
        <p:nvCxnSpPr>
          <p:cNvPr id="84" name="Google Shape;84;p13"/>
          <p:cNvCxnSpPr/>
          <p:nvPr/>
        </p:nvCxnSpPr>
        <p:spPr>
          <a:xfrm flipH="1">
            <a:off x="2394650" y="2101796"/>
            <a:ext cx="10200" cy="1385100"/>
          </a:xfrm>
          <a:prstGeom prst="straightConnector1">
            <a:avLst/>
          </a:prstGeom>
          <a:noFill/>
          <a:ln cap="flat" cmpd="sng" w="8700">
            <a:solidFill>
              <a:schemeClr val="dk2"/>
            </a:solidFill>
            <a:prstDash val="dot"/>
            <a:round/>
            <a:headEnd len="med" w="med" type="none"/>
            <a:tailEnd len="med" w="med" type="none"/>
          </a:ln>
        </p:spPr>
      </p:cxnSp>
      <p:cxnSp>
        <p:nvCxnSpPr>
          <p:cNvPr id="85" name="Google Shape;85;p13"/>
          <p:cNvCxnSpPr/>
          <p:nvPr/>
        </p:nvCxnSpPr>
        <p:spPr>
          <a:xfrm flipH="1">
            <a:off x="4564875" y="2101783"/>
            <a:ext cx="11100" cy="1314900"/>
          </a:xfrm>
          <a:prstGeom prst="straightConnector1">
            <a:avLst/>
          </a:prstGeom>
          <a:noFill/>
          <a:ln cap="flat" cmpd="sng" w="8700">
            <a:solidFill>
              <a:schemeClr val="dk2"/>
            </a:solidFill>
            <a:prstDash val="dot"/>
            <a:round/>
            <a:headEnd len="med" w="med" type="none"/>
            <a:tailEnd len="med" w="med" type="none"/>
          </a:ln>
        </p:spPr>
      </p:cxnSp>
      <p:cxnSp>
        <p:nvCxnSpPr>
          <p:cNvPr id="86" name="Google Shape;86;p13"/>
          <p:cNvCxnSpPr/>
          <p:nvPr/>
        </p:nvCxnSpPr>
        <p:spPr>
          <a:xfrm>
            <a:off x="2419350" y="6191250"/>
            <a:ext cx="3000" cy="1670100"/>
          </a:xfrm>
          <a:prstGeom prst="straightConnector1">
            <a:avLst/>
          </a:prstGeom>
          <a:noFill/>
          <a:ln cap="flat" cmpd="sng" w="8700">
            <a:solidFill>
              <a:schemeClr val="dk2"/>
            </a:solidFill>
            <a:prstDash val="dot"/>
            <a:round/>
            <a:headEnd len="med" w="med" type="none"/>
            <a:tailEnd len="med" w="med" type="none"/>
          </a:ln>
        </p:spPr>
      </p:cxnSp>
      <p:cxnSp>
        <p:nvCxnSpPr>
          <p:cNvPr id="87" name="Google Shape;87;p13"/>
          <p:cNvCxnSpPr/>
          <p:nvPr/>
        </p:nvCxnSpPr>
        <p:spPr>
          <a:xfrm flipH="1">
            <a:off x="4611225" y="6219825"/>
            <a:ext cx="8400" cy="1641600"/>
          </a:xfrm>
          <a:prstGeom prst="straightConnector1">
            <a:avLst/>
          </a:prstGeom>
          <a:noFill/>
          <a:ln cap="flat" cmpd="sng" w="8700">
            <a:solidFill>
              <a:schemeClr val="dk2"/>
            </a:solidFill>
            <a:prstDash val="dot"/>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nvSpPr>
        <p:spPr>
          <a:xfrm>
            <a:off x="2601788" y="230711"/>
            <a:ext cx="16545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Red Hat Display"/>
              <a:ea typeface="Red Hat Display"/>
              <a:cs typeface="Red Hat Display"/>
              <a:sym typeface="Red Hat Display"/>
            </a:endParaRPr>
          </a:p>
        </p:txBody>
      </p:sp>
      <p:sp>
        <p:nvSpPr>
          <p:cNvPr id="93" name="Google Shape;93;p14"/>
          <p:cNvSpPr/>
          <p:nvPr/>
        </p:nvSpPr>
        <p:spPr>
          <a:xfrm>
            <a:off x="0" y="-3950"/>
            <a:ext cx="6858000" cy="65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ed Hat Display"/>
                <a:ea typeface="Red Hat Display"/>
                <a:cs typeface="Red Hat Display"/>
                <a:sym typeface="Red Hat Display"/>
              </a:rPr>
              <a:t>Sovereignty conversation entry points </a:t>
            </a:r>
            <a:r>
              <a:rPr b="1" lang="en">
                <a:solidFill>
                  <a:schemeClr val="lt1"/>
                </a:solidFill>
                <a:latin typeface="Red Hat Display"/>
                <a:ea typeface="Red Hat Display"/>
                <a:cs typeface="Red Hat Display"/>
                <a:sym typeface="Red Hat Display"/>
              </a:rPr>
              <a:t> </a:t>
            </a:r>
            <a:endParaRPr b="1">
              <a:solidFill>
                <a:schemeClr val="lt1"/>
              </a:solidFill>
              <a:latin typeface="Red Hat Display"/>
              <a:ea typeface="Red Hat Display"/>
              <a:cs typeface="Red Hat Display"/>
              <a:sym typeface="Red Hat Display"/>
            </a:endParaRPr>
          </a:p>
        </p:txBody>
      </p:sp>
      <p:sp>
        <p:nvSpPr>
          <p:cNvPr id="94" name="Google Shape;94;p14"/>
          <p:cNvSpPr txBox="1"/>
          <p:nvPr/>
        </p:nvSpPr>
        <p:spPr>
          <a:xfrm>
            <a:off x="16828" y="11850726"/>
            <a:ext cx="67989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TDPs</a:t>
            </a:r>
            <a:r>
              <a:rPr lang="en" sz="1200">
                <a:solidFill>
                  <a:schemeClr val="dk1"/>
                </a:solidFill>
                <a:latin typeface="Red Hat Display Medium"/>
                <a:ea typeface="Red Hat Display Medium"/>
                <a:cs typeface="Red Hat Display Medium"/>
                <a:sym typeface="Red Hat Display Medium"/>
              </a:rPr>
              <a:t>:</a:t>
            </a:r>
            <a:r>
              <a:rPr lang="en" sz="1200">
                <a:solidFill>
                  <a:schemeClr val="dk1"/>
                </a:solidFill>
                <a:latin typeface="Red Hat Text"/>
                <a:ea typeface="Red Hat Text"/>
                <a:cs typeface="Red Hat Text"/>
                <a:sym typeface="Red Hat Text"/>
              </a:rPr>
              <a:t> Application Platform</a:t>
            </a:r>
            <a:endParaRPr sz="1200">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sz="1200">
              <a:solidFill>
                <a:schemeClr val="dk1"/>
              </a:solidFill>
              <a:latin typeface="Red Hat Text"/>
              <a:ea typeface="Red Hat Text"/>
              <a:cs typeface="Red Hat Text"/>
              <a:sym typeface="Red Hat Text"/>
            </a:endParaRPr>
          </a:p>
        </p:txBody>
      </p:sp>
      <p:pic>
        <p:nvPicPr>
          <p:cNvPr id="95" name="Google Shape;95;p14" title="RedHat_favicon_0319.Large-logo-transparent.png"/>
          <p:cNvPicPr preferRelativeResize="0"/>
          <p:nvPr/>
        </p:nvPicPr>
        <p:blipFill>
          <a:blip r:embed="rId3">
            <a:alphaModFix/>
          </a:blip>
          <a:stretch>
            <a:fillRect/>
          </a:stretch>
        </p:blipFill>
        <p:spPr>
          <a:xfrm>
            <a:off x="6183713" y="135624"/>
            <a:ext cx="393092" cy="393000"/>
          </a:xfrm>
          <a:prstGeom prst="rect">
            <a:avLst/>
          </a:prstGeom>
          <a:noFill/>
          <a:ln>
            <a:noFill/>
          </a:ln>
        </p:spPr>
      </p:pic>
      <p:cxnSp>
        <p:nvCxnSpPr>
          <p:cNvPr id="96" name="Google Shape;96;p14"/>
          <p:cNvCxnSpPr/>
          <p:nvPr/>
        </p:nvCxnSpPr>
        <p:spPr>
          <a:xfrm>
            <a:off x="2419517" y="2024937"/>
            <a:ext cx="9300" cy="2289900"/>
          </a:xfrm>
          <a:prstGeom prst="straightConnector1">
            <a:avLst/>
          </a:prstGeom>
          <a:noFill/>
          <a:ln cap="flat" cmpd="sng" w="8700">
            <a:solidFill>
              <a:schemeClr val="dk2"/>
            </a:solidFill>
            <a:prstDash val="dot"/>
            <a:round/>
            <a:headEnd len="med" w="med" type="none"/>
            <a:tailEnd len="med" w="med" type="none"/>
          </a:ln>
        </p:spPr>
      </p:cxnSp>
      <p:cxnSp>
        <p:nvCxnSpPr>
          <p:cNvPr id="97" name="Google Shape;97;p14"/>
          <p:cNvCxnSpPr/>
          <p:nvPr/>
        </p:nvCxnSpPr>
        <p:spPr>
          <a:xfrm>
            <a:off x="4608642" y="2024925"/>
            <a:ext cx="1500" cy="2299500"/>
          </a:xfrm>
          <a:prstGeom prst="straightConnector1">
            <a:avLst/>
          </a:prstGeom>
          <a:noFill/>
          <a:ln cap="flat" cmpd="sng" w="8700">
            <a:solidFill>
              <a:schemeClr val="dk2"/>
            </a:solidFill>
            <a:prstDash val="dot"/>
            <a:round/>
            <a:headEnd len="med" w="med" type="none"/>
            <a:tailEnd len="med" w="med" type="none"/>
          </a:ln>
        </p:spPr>
      </p:cxnSp>
      <p:sp>
        <p:nvSpPr>
          <p:cNvPr id="98" name="Google Shape;98;p14"/>
          <p:cNvSpPr/>
          <p:nvPr/>
        </p:nvSpPr>
        <p:spPr>
          <a:xfrm>
            <a:off x="0" y="1117277"/>
            <a:ext cx="6858000" cy="33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4"/>
          <p:cNvSpPr txBox="1"/>
          <p:nvPr/>
        </p:nvSpPr>
        <p:spPr>
          <a:xfrm>
            <a:off x="0" y="1052275"/>
            <a:ext cx="68580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SemiBold"/>
                <a:ea typeface="Red Hat Text SemiBold"/>
                <a:cs typeface="Red Hat Text SemiBold"/>
                <a:sym typeface="Red Hat Text SemiBold"/>
              </a:rPr>
              <a:t>Description</a:t>
            </a:r>
            <a:r>
              <a:rPr lang="en" sz="1200">
                <a:solidFill>
                  <a:schemeClr val="dk1"/>
                </a:solidFill>
                <a:latin typeface="Red Hat Text"/>
                <a:ea typeface="Red Hat Text"/>
                <a:cs typeface="Red Hat Text"/>
                <a:sym typeface="Red Hat Text"/>
              </a:rPr>
              <a:t>: </a:t>
            </a:r>
            <a:r>
              <a:rPr lang="en" sz="1200">
                <a:solidFill>
                  <a:schemeClr val="dk1"/>
                </a:solidFill>
                <a:latin typeface="Red Hat Text"/>
                <a:ea typeface="Red Hat Text"/>
                <a:cs typeface="Red Hat Text"/>
                <a:sym typeface="Red Hat Text"/>
              </a:rPr>
              <a:t>Evaluate technology supply chain origin, transparency, and resilience. </a:t>
            </a:r>
            <a:endParaRPr sz="1200">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sz="1200">
              <a:solidFill>
                <a:schemeClr val="dk1"/>
              </a:solidFill>
              <a:latin typeface="Red Hat Text"/>
              <a:ea typeface="Red Hat Text"/>
              <a:cs typeface="Red Hat Text"/>
              <a:sym typeface="Red Hat Text"/>
            </a:endParaRPr>
          </a:p>
        </p:txBody>
      </p:sp>
      <p:sp>
        <p:nvSpPr>
          <p:cNvPr id="100" name="Google Shape;100;p14"/>
          <p:cNvSpPr/>
          <p:nvPr/>
        </p:nvSpPr>
        <p:spPr>
          <a:xfrm>
            <a:off x="0" y="654350"/>
            <a:ext cx="6858000" cy="337200"/>
          </a:xfrm>
          <a:prstGeom prst="rect">
            <a:avLst/>
          </a:prstGeom>
          <a:solidFill>
            <a:srgbClr val="EE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Use case: Technology Sovereignty</a:t>
            </a:r>
            <a:endParaRPr b="1">
              <a:solidFill>
                <a:schemeClr val="lt1"/>
              </a:solidFill>
              <a:latin typeface="Red Hat Text"/>
              <a:ea typeface="Red Hat Text"/>
              <a:cs typeface="Red Hat Text"/>
              <a:sym typeface="Red Hat Text"/>
            </a:endParaRPr>
          </a:p>
        </p:txBody>
      </p:sp>
      <p:sp>
        <p:nvSpPr>
          <p:cNvPr id="101" name="Google Shape;101;p14"/>
          <p:cNvSpPr txBox="1"/>
          <p:nvPr/>
        </p:nvSpPr>
        <p:spPr>
          <a:xfrm>
            <a:off x="448850" y="1539069"/>
            <a:ext cx="962700" cy="4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Listen for: </a:t>
            </a:r>
            <a:endParaRPr sz="1200">
              <a:solidFill>
                <a:schemeClr val="dk1"/>
              </a:solidFill>
              <a:latin typeface="Red Hat Text"/>
              <a:ea typeface="Red Hat Text"/>
              <a:cs typeface="Red Hat Text"/>
              <a:sym typeface="Red Hat Text"/>
            </a:endParaRPr>
          </a:p>
        </p:txBody>
      </p:sp>
      <p:pic>
        <p:nvPicPr>
          <p:cNvPr id="102" name="Google Shape;102;p14"/>
          <p:cNvPicPr preferRelativeResize="0"/>
          <p:nvPr/>
        </p:nvPicPr>
        <p:blipFill rotWithShape="1">
          <a:blip r:embed="rId4">
            <a:alphaModFix/>
          </a:blip>
          <a:srcRect b="0" l="0" r="0" t="0"/>
          <a:stretch/>
        </p:blipFill>
        <p:spPr>
          <a:xfrm>
            <a:off x="140288" y="1441127"/>
            <a:ext cx="294675" cy="294675"/>
          </a:xfrm>
          <a:prstGeom prst="rect">
            <a:avLst/>
          </a:prstGeom>
          <a:noFill/>
          <a:ln>
            <a:noFill/>
          </a:ln>
        </p:spPr>
      </p:pic>
      <p:pic>
        <p:nvPicPr>
          <p:cNvPr id="103" name="Google Shape;103;p14"/>
          <p:cNvPicPr preferRelativeResize="0"/>
          <p:nvPr/>
        </p:nvPicPr>
        <p:blipFill rotWithShape="1">
          <a:blip r:embed="rId5">
            <a:alphaModFix/>
          </a:blip>
          <a:srcRect b="0" l="0" r="0" t="0"/>
          <a:stretch/>
        </p:blipFill>
        <p:spPr>
          <a:xfrm>
            <a:off x="2568162" y="1441128"/>
            <a:ext cx="294675" cy="294675"/>
          </a:xfrm>
          <a:prstGeom prst="rect">
            <a:avLst/>
          </a:prstGeom>
          <a:noFill/>
          <a:ln>
            <a:noFill/>
          </a:ln>
        </p:spPr>
      </p:pic>
      <p:sp>
        <p:nvSpPr>
          <p:cNvPr id="104" name="Google Shape;104;p14"/>
          <p:cNvSpPr txBox="1"/>
          <p:nvPr/>
        </p:nvSpPr>
        <p:spPr>
          <a:xfrm>
            <a:off x="2876725" y="1490007"/>
            <a:ext cx="13521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Focus the </a:t>
            </a:r>
            <a:endParaRPr sz="1200">
              <a:solidFill>
                <a:schemeClr val="dk1"/>
              </a:solidFill>
              <a:latin typeface="Red Hat Display SemiBold"/>
              <a:ea typeface="Red Hat Display SemiBold"/>
              <a:cs typeface="Red Hat Display SemiBold"/>
              <a:sym typeface="Red Hat Display SemiBold"/>
            </a:endParaRPr>
          </a:p>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conversation on:</a:t>
            </a:r>
            <a:endParaRPr sz="1200">
              <a:solidFill>
                <a:schemeClr val="dk1"/>
              </a:solidFill>
              <a:latin typeface="Red Hat Display"/>
              <a:ea typeface="Red Hat Display"/>
              <a:cs typeface="Red Hat Display"/>
              <a:sym typeface="Red Hat Display"/>
            </a:endParaRPr>
          </a:p>
        </p:txBody>
      </p:sp>
      <p:pic>
        <p:nvPicPr>
          <p:cNvPr id="105" name="Google Shape;105;p14"/>
          <p:cNvPicPr preferRelativeResize="0"/>
          <p:nvPr/>
        </p:nvPicPr>
        <p:blipFill rotWithShape="1">
          <a:blip r:embed="rId6">
            <a:alphaModFix/>
          </a:blip>
          <a:srcRect b="0" l="0" r="0" t="0"/>
          <a:stretch/>
        </p:blipFill>
        <p:spPr>
          <a:xfrm flipH="1">
            <a:off x="4882283" y="1402075"/>
            <a:ext cx="294675" cy="294630"/>
          </a:xfrm>
          <a:prstGeom prst="rect">
            <a:avLst/>
          </a:prstGeom>
          <a:noFill/>
          <a:ln>
            <a:noFill/>
          </a:ln>
        </p:spPr>
      </p:pic>
      <p:sp>
        <p:nvSpPr>
          <p:cNvPr id="106" name="Google Shape;106;p14"/>
          <p:cNvSpPr txBox="1"/>
          <p:nvPr/>
        </p:nvSpPr>
        <p:spPr>
          <a:xfrm>
            <a:off x="5224475" y="1459400"/>
            <a:ext cx="16545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How Red Hat </a:t>
            </a:r>
            <a:br>
              <a:rPr lang="en" sz="1200">
                <a:solidFill>
                  <a:schemeClr val="dk1"/>
                </a:solidFill>
                <a:latin typeface="Red Hat Display SemiBold"/>
                <a:ea typeface="Red Hat Display SemiBold"/>
                <a:cs typeface="Red Hat Display SemiBold"/>
                <a:sym typeface="Red Hat Display SemiBold"/>
              </a:rPr>
            </a:br>
            <a:r>
              <a:rPr lang="en" sz="1200">
                <a:solidFill>
                  <a:schemeClr val="dk1"/>
                </a:solidFill>
                <a:latin typeface="Red Hat Display SemiBold"/>
                <a:ea typeface="Red Hat Display SemiBold"/>
                <a:cs typeface="Red Hat Display SemiBold"/>
                <a:sym typeface="Red Hat Display SemiBold"/>
              </a:rPr>
              <a:t>helps</a:t>
            </a:r>
            <a:endParaRPr sz="1200">
              <a:solidFill>
                <a:schemeClr val="dk1"/>
              </a:solidFill>
              <a:latin typeface="Red Hat Display SemiBold"/>
              <a:ea typeface="Red Hat Display SemiBold"/>
              <a:cs typeface="Red Hat Display SemiBold"/>
              <a:sym typeface="Red Hat Display SemiBold"/>
            </a:endParaRPr>
          </a:p>
        </p:txBody>
      </p:sp>
      <p:sp>
        <p:nvSpPr>
          <p:cNvPr id="107" name="Google Shape;107;p14"/>
          <p:cNvSpPr txBox="1"/>
          <p:nvPr/>
        </p:nvSpPr>
        <p:spPr>
          <a:xfrm>
            <a:off x="181225" y="2024925"/>
            <a:ext cx="21888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"We need a local, sovereign cloud provider or a mix of global vendors to deploy a common platform that meets regulatory requirements and enhances the security of our software supply chain."</a:t>
            </a:r>
            <a:endParaRPr sz="1200">
              <a:latin typeface="Red Hat Text"/>
              <a:ea typeface="Red Hat Text"/>
              <a:cs typeface="Red Hat Text"/>
              <a:sym typeface="Red Hat Text"/>
            </a:endParaRPr>
          </a:p>
        </p:txBody>
      </p:sp>
      <p:sp>
        <p:nvSpPr>
          <p:cNvPr id="108" name="Google Shape;108;p14"/>
          <p:cNvSpPr txBox="1"/>
          <p:nvPr/>
        </p:nvSpPr>
        <p:spPr>
          <a:xfrm>
            <a:off x="4669225" y="1988175"/>
            <a:ext cx="21888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ed Hat Text"/>
                <a:ea typeface="Red Hat Text"/>
                <a:cs typeface="Red Hat Text"/>
                <a:sym typeface="Red Hat Text"/>
              </a:rPr>
              <a:t>Red Hat partners with local cloud providers to reduce reliance on non-local hyperscalers, keeping data and operations within a specific jurisdiction to meet requirements. Where a global hyperscaler is used, we extend sovereign capabilities verifying software integrity and provenance, enhancing supply chain security.</a:t>
            </a:r>
            <a:endParaRPr sz="1200"/>
          </a:p>
        </p:txBody>
      </p:sp>
      <p:sp>
        <p:nvSpPr>
          <p:cNvPr id="109" name="Google Shape;109;p14"/>
          <p:cNvSpPr txBox="1"/>
          <p:nvPr/>
        </p:nvSpPr>
        <p:spPr>
          <a:xfrm>
            <a:off x="2660574" y="2133625"/>
            <a:ext cx="1848600" cy="8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Trust and security. Value of the ecosystem</a:t>
            </a:r>
            <a:endParaRPr sz="1200">
              <a:solidFill>
                <a:schemeClr val="dk1"/>
              </a:solidFill>
              <a:latin typeface="Red Hat Text"/>
              <a:ea typeface="Red Hat Text"/>
              <a:cs typeface="Red Hat Text"/>
              <a:sym typeface="Red Hat Text"/>
            </a:endParaRPr>
          </a:p>
        </p:txBody>
      </p:sp>
      <p:sp>
        <p:nvSpPr>
          <p:cNvPr id="110" name="Google Shape;110;p14"/>
          <p:cNvSpPr txBox="1"/>
          <p:nvPr/>
        </p:nvSpPr>
        <p:spPr>
          <a:xfrm>
            <a:off x="1975" y="4322875"/>
            <a:ext cx="6887700" cy="3930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Technology</a:t>
            </a:r>
            <a:r>
              <a:rPr lang="en" sz="1200">
                <a:solidFill>
                  <a:schemeClr val="dk1"/>
                </a:solidFill>
                <a:latin typeface="Red Hat Display SemiBold"/>
                <a:ea typeface="Red Hat Display SemiBold"/>
                <a:cs typeface="Red Hat Display SemiBold"/>
                <a:sym typeface="Red Hat Display SemiBold"/>
              </a:rPr>
              <a:t> Sovereignty</a:t>
            </a:r>
            <a:r>
              <a:rPr lang="en" sz="1200">
                <a:solidFill>
                  <a:schemeClr val="dk1"/>
                </a:solidFill>
                <a:latin typeface="Red Hat Display Medium"/>
                <a:ea typeface="Red Hat Display Medium"/>
                <a:cs typeface="Red Hat Display Medium"/>
                <a:sym typeface="Red Hat Display Medium"/>
              </a:rPr>
              <a:t>: </a:t>
            </a:r>
            <a:r>
              <a:rPr lang="en" sz="1200">
                <a:solidFill>
                  <a:schemeClr val="dk1"/>
                </a:solidFill>
                <a:latin typeface="Red Hat Text"/>
                <a:ea typeface="Red Hat Text"/>
                <a:cs typeface="Red Hat Text"/>
                <a:sym typeface="Red Hat Text"/>
              </a:rPr>
              <a:t>Technology and Supply Chain</a:t>
            </a:r>
            <a:endParaRPr sz="1200">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a:solidFill>
                <a:schemeClr val="dk1"/>
              </a:solidFill>
              <a:latin typeface="Red Hat Text"/>
              <a:ea typeface="Red Hat Text"/>
              <a:cs typeface="Red Hat Text"/>
              <a:sym typeface="Red Hat Text"/>
            </a:endParaRPr>
          </a:p>
        </p:txBody>
      </p:sp>
      <p:cxnSp>
        <p:nvCxnSpPr>
          <p:cNvPr id="111" name="Google Shape;111;p14"/>
          <p:cNvCxnSpPr/>
          <p:nvPr/>
        </p:nvCxnSpPr>
        <p:spPr>
          <a:xfrm>
            <a:off x="2420492" y="6443437"/>
            <a:ext cx="9300" cy="2289900"/>
          </a:xfrm>
          <a:prstGeom prst="straightConnector1">
            <a:avLst/>
          </a:prstGeom>
          <a:noFill/>
          <a:ln cap="flat" cmpd="sng" w="8700">
            <a:solidFill>
              <a:schemeClr val="dk2"/>
            </a:solidFill>
            <a:prstDash val="dot"/>
            <a:round/>
            <a:headEnd len="med" w="med" type="none"/>
            <a:tailEnd len="med" w="med" type="none"/>
          </a:ln>
        </p:spPr>
      </p:cxnSp>
      <p:cxnSp>
        <p:nvCxnSpPr>
          <p:cNvPr id="112" name="Google Shape;112;p14"/>
          <p:cNvCxnSpPr/>
          <p:nvPr/>
        </p:nvCxnSpPr>
        <p:spPr>
          <a:xfrm>
            <a:off x="4609617" y="6443425"/>
            <a:ext cx="1500" cy="2299500"/>
          </a:xfrm>
          <a:prstGeom prst="straightConnector1">
            <a:avLst/>
          </a:prstGeom>
          <a:noFill/>
          <a:ln cap="flat" cmpd="sng" w="8700">
            <a:solidFill>
              <a:schemeClr val="dk2"/>
            </a:solidFill>
            <a:prstDash val="dot"/>
            <a:round/>
            <a:headEnd len="med" w="med" type="none"/>
            <a:tailEnd len="med" w="med" type="none"/>
          </a:ln>
        </p:spPr>
      </p:cxnSp>
      <p:sp>
        <p:nvSpPr>
          <p:cNvPr id="113" name="Google Shape;113;p14"/>
          <p:cNvSpPr/>
          <p:nvPr/>
        </p:nvSpPr>
        <p:spPr>
          <a:xfrm>
            <a:off x="975" y="5269077"/>
            <a:ext cx="6858000" cy="33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4"/>
          <p:cNvSpPr txBox="1"/>
          <p:nvPr/>
        </p:nvSpPr>
        <p:spPr>
          <a:xfrm>
            <a:off x="975" y="5204075"/>
            <a:ext cx="68580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SemiBold"/>
                <a:ea typeface="Red Hat Text SemiBold"/>
                <a:cs typeface="Red Hat Text SemiBold"/>
                <a:sym typeface="Red Hat Text SemiBold"/>
              </a:rPr>
              <a:t>Description</a:t>
            </a:r>
            <a:r>
              <a:rPr lang="en" sz="1200">
                <a:solidFill>
                  <a:schemeClr val="dk1"/>
                </a:solidFill>
                <a:latin typeface="Red Hat Text"/>
                <a:ea typeface="Red Hat Text"/>
                <a:cs typeface="Red Hat Text"/>
                <a:sym typeface="Red Hat Text"/>
              </a:rPr>
              <a:t>: </a:t>
            </a:r>
            <a:r>
              <a:rPr lang="en" sz="1200">
                <a:solidFill>
                  <a:schemeClr val="dk1"/>
                </a:solidFill>
                <a:highlight>
                  <a:schemeClr val="lt1"/>
                </a:highlight>
                <a:latin typeface="Red Hat Text"/>
                <a:ea typeface="Red Hat Text"/>
                <a:cs typeface="Red Hat Text"/>
                <a:sym typeface="Red Hat Text"/>
              </a:rPr>
              <a:t>Run, support, and manage technology independently within the relevant jurisdiction for operational support.</a:t>
            </a:r>
            <a:endParaRPr sz="1200">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sz="1200">
              <a:solidFill>
                <a:schemeClr val="dk1"/>
              </a:solidFill>
              <a:latin typeface="Red Hat Text"/>
              <a:ea typeface="Red Hat Text"/>
              <a:cs typeface="Red Hat Text"/>
              <a:sym typeface="Red Hat Text"/>
            </a:endParaRPr>
          </a:p>
        </p:txBody>
      </p:sp>
      <p:sp>
        <p:nvSpPr>
          <p:cNvPr id="115" name="Google Shape;115;p14"/>
          <p:cNvSpPr/>
          <p:nvPr/>
        </p:nvSpPr>
        <p:spPr>
          <a:xfrm>
            <a:off x="975" y="4806150"/>
            <a:ext cx="6858000" cy="337200"/>
          </a:xfrm>
          <a:prstGeom prst="rect">
            <a:avLst/>
          </a:prstGeom>
          <a:solidFill>
            <a:srgbClr val="EE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Use case: Operational Sovereignty</a:t>
            </a:r>
            <a:endParaRPr b="1">
              <a:solidFill>
                <a:schemeClr val="lt1"/>
              </a:solidFill>
              <a:latin typeface="Red Hat Text"/>
              <a:ea typeface="Red Hat Text"/>
              <a:cs typeface="Red Hat Text"/>
              <a:sym typeface="Red Hat Text"/>
            </a:endParaRPr>
          </a:p>
        </p:txBody>
      </p:sp>
      <p:sp>
        <p:nvSpPr>
          <p:cNvPr id="116" name="Google Shape;116;p14"/>
          <p:cNvSpPr txBox="1"/>
          <p:nvPr/>
        </p:nvSpPr>
        <p:spPr>
          <a:xfrm>
            <a:off x="449825" y="5957569"/>
            <a:ext cx="962700" cy="4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Listen for: </a:t>
            </a:r>
            <a:endParaRPr sz="1200">
              <a:solidFill>
                <a:schemeClr val="dk1"/>
              </a:solidFill>
              <a:latin typeface="Red Hat Text"/>
              <a:ea typeface="Red Hat Text"/>
              <a:cs typeface="Red Hat Text"/>
              <a:sym typeface="Red Hat Text"/>
            </a:endParaRPr>
          </a:p>
        </p:txBody>
      </p:sp>
      <p:pic>
        <p:nvPicPr>
          <p:cNvPr id="117" name="Google Shape;117;p14"/>
          <p:cNvPicPr preferRelativeResize="0"/>
          <p:nvPr/>
        </p:nvPicPr>
        <p:blipFill rotWithShape="1">
          <a:blip r:embed="rId4">
            <a:alphaModFix/>
          </a:blip>
          <a:srcRect b="0" l="0" r="0" t="0"/>
          <a:stretch/>
        </p:blipFill>
        <p:spPr>
          <a:xfrm>
            <a:off x="141263" y="5859627"/>
            <a:ext cx="294675" cy="294675"/>
          </a:xfrm>
          <a:prstGeom prst="rect">
            <a:avLst/>
          </a:prstGeom>
          <a:noFill/>
          <a:ln>
            <a:noFill/>
          </a:ln>
        </p:spPr>
      </p:pic>
      <p:pic>
        <p:nvPicPr>
          <p:cNvPr id="118" name="Google Shape;118;p14"/>
          <p:cNvPicPr preferRelativeResize="0"/>
          <p:nvPr/>
        </p:nvPicPr>
        <p:blipFill rotWithShape="1">
          <a:blip r:embed="rId5">
            <a:alphaModFix/>
          </a:blip>
          <a:srcRect b="0" l="0" r="0" t="0"/>
          <a:stretch/>
        </p:blipFill>
        <p:spPr>
          <a:xfrm>
            <a:off x="2569137" y="5859628"/>
            <a:ext cx="294675" cy="294675"/>
          </a:xfrm>
          <a:prstGeom prst="rect">
            <a:avLst/>
          </a:prstGeom>
          <a:noFill/>
          <a:ln>
            <a:noFill/>
          </a:ln>
        </p:spPr>
      </p:pic>
      <p:sp>
        <p:nvSpPr>
          <p:cNvPr id="119" name="Google Shape;119;p14"/>
          <p:cNvSpPr txBox="1"/>
          <p:nvPr/>
        </p:nvSpPr>
        <p:spPr>
          <a:xfrm>
            <a:off x="2877700" y="5908507"/>
            <a:ext cx="13521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Focus the </a:t>
            </a:r>
            <a:endParaRPr sz="1200">
              <a:solidFill>
                <a:schemeClr val="dk1"/>
              </a:solidFill>
              <a:latin typeface="Red Hat Display SemiBold"/>
              <a:ea typeface="Red Hat Display SemiBold"/>
              <a:cs typeface="Red Hat Display SemiBold"/>
              <a:sym typeface="Red Hat Display SemiBold"/>
            </a:endParaRPr>
          </a:p>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conversation on:</a:t>
            </a:r>
            <a:endParaRPr sz="1200">
              <a:solidFill>
                <a:schemeClr val="dk1"/>
              </a:solidFill>
              <a:latin typeface="Red Hat Display"/>
              <a:ea typeface="Red Hat Display"/>
              <a:cs typeface="Red Hat Display"/>
              <a:sym typeface="Red Hat Display"/>
            </a:endParaRPr>
          </a:p>
        </p:txBody>
      </p:sp>
      <p:pic>
        <p:nvPicPr>
          <p:cNvPr id="120" name="Google Shape;120;p14"/>
          <p:cNvPicPr preferRelativeResize="0"/>
          <p:nvPr/>
        </p:nvPicPr>
        <p:blipFill rotWithShape="1">
          <a:blip r:embed="rId6">
            <a:alphaModFix/>
          </a:blip>
          <a:srcRect b="0" l="0" r="0" t="0"/>
          <a:stretch/>
        </p:blipFill>
        <p:spPr>
          <a:xfrm flipH="1">
            <a:off x="4883258" y="5820575"/>
            <a:ext cx="294675" cy="294630"/>
          </a:xfrm>
          <a:prstGeom prst="rect">
            <a:avLst/>
          </a:prstGeom>
          <a:noFill/>
          <a:ln>
            <a:noFill/>
          </a:ln>
        </p:spPr>
      </p:pic>
      <p:sp>
        <p:nvSpPr>
          <p:cNvPr id="121" name="Google Shape;121;p14"/>
          <p:cNvSpPr txBox="1"/>
          <p:nvPr/>
        </p:nvSpPr>
        <p:spPr>
          <a:xfrm>
            <a:off x="5225450" y="5877900"/>
            <a:ext cx="16545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How Red Hat </a:t>
            </a:r>
            <a:br>
              <a:rPr lang="en" sz="1200">
                <a:solidFill>
                  <a:schemeClr val="dk1"/>
                </a:solidFill>
                <a:latin typeface="Red Hat Display SemiBold"/>
                <a:ea typeface="Red Hat Display SemiBold"/>
                <a:cs typeface="Red Hat Display SemiBold"/>
                <a:sym typeface="Red Hat Display SemiBold"/>
              </a:rPr>
            </a:br>
            <a:r>
              <a:rPr lang="en" sz="1200">
                <a:solidFill>
                  <a:schemeClr val="dk1"/>
                </a:solidFill>
                <a:latin typeface="Red Hat Display SemiBold"/>
                <a:ea typeface="Red Hat Display SemiBold"/>
                <a:cs typeface="Red Hat Display SemiBold"/>
                <a:sym typeface="Red Hat Display SemiBold"/>
              </a:rPr>
              <a:t>helps</a:t>
            </a:r>
            <a:endParaRPr sz="1200">
              <a:solidFill>
                <a:schemeClr val="dk1"/>
              </a:solidFill>
              <a:latin typeface="Red Hat Display SemiBold"/>
              <a:ea typeface="Red Hat Display SemiBold"/>
              <a:cs typeface="Red Hat Display SemiBold"/>
              <a:sym typeface="Red Hat Display SemiBold"/>
            </a:endParaRPr>
          </a:p>
        </p:txBody>
      </p:sp>
      <p:sp>
        <p:nvSpPr>
          <p:cNvPr id="122" name="Google Shape;122;p14"/>
          <p:cNvSpPr txBox="1"/>
          <p:nvPr/>
        </p:nvSpPr>
        <p:spPr>
          <a:xfrm>
            <a:off x="182200" y="6443425"/>
            <a:ext cx="21888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ed Hat Text"/>
                <a:ea typeface="Red Hat Text"/>
                <a:cs typeface="Red Hat Text"/>
                <a:sym typeface="Red Hat Text"/>
              </a:rPr>
              <a:t>"We need  in-region support, delivered by verified citizens operating solely within our geographic region, is critical for meeting our strict digital sovereignty and compliance requirements."</a:t>
            </a:r>
            <a:endParaRPr sz="1200">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sz="1100">
              <a:solidFill>
                <a:schemeClr val="dk1"/>
              </a:solidFill>
              <a:latin typeface="Red Hat Text"/>
              <a:ea typeface="Red Hat Text"/>
              <a:cs typeface="Red Hat Text"/>
              <a:sym typeface="Red Hat Text"/>
            </a:endParaRPr>
          </a:p>
        </p:txBody>
      </p:sp>
      <p:sp>
        <p:nvSpPr>
          <p:cNvPr id="123" name="Google Shape;123;p14"/>
          <p:cNvSpPr txBox="1"/>
          <p:nvPr/>
        </p:nvSpPr>
        <p:spPr>
          <a:xfrm>
            <a:off x="4741900" y="6406675"/>
            <a:ext cx="19902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ed Hat Text"/>
                <a:ea typeface="Red Hat Text"/>
                <a:cs typeface="Red Hat Text"/>
                <a:sym typeface="Red Hat Text"/>
              </a:rPr>
              <a:t>Red Hat offers specialized support within select jurisdictions to ensure that sensitive data and operations are handled entirely within the covered region by staff who share the required citizenship. In regions outside the coverage support is delivered by the Red Hat support center worldwide to provide 24/7 coverage</a:t>
            </a:r>
            <a:endParaRPr b="0" i="0" sz="1100" u="none" cap="none" strike="noStrike">
              <a:solidFill>
                <a:srgbClr val="000000"/>
              </a:solidFill>
              <a:latin typeface="Red Hat Text"/>
              <a:ea typeface="Red Hat Text"/>
              <a:cs typeface="Red Hat Text"/>
              <a:sym typeface="Red Hat Text"/>
            </a:endParaRPr>
          </a:p>
        </p:txBody>
      </p:sp>
      <p:sp>
        <p:nvSpPr>
          <p:cNvPr id="124" name="Google Shape;124;p14"/>
          <p:cNvSpPr txBox="1"/>
          <p:nvPr/>
        </p:nvSpPr>
        <p:spPr>
          <a:xfrm>
            <a:off x="2661549" y="6472650"/>
            <a:ext cx="1848600" cy="8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Quality of support and customer requirements</a:t>
            </a:r>
            <a:endParaRPr sz="1200">
              <a:solidFill>
                <a:schemeClr val="dk1"/>
              </a:solidFill>
              <a:latin typeface="Red Hat Text"/>
              <a:ea typeface="Red Hat Text"/>
              <a:cs typeface="Red Hat Text"/>
              <a:sym typeface="Red Hat Text"/>
            </a:endParaRPr>
          </a:p>
        </p:txBody>
      </p:sp>
      <p:sp>
        <p:nvSpPr>
          <p:cNvPr id="125" name="Google Shape;125;p14"/>
          <p:cNvSpPr txBox="1"/>
          <p:nvPr/>
        </p:nvSpPr>
        <p:spPr>
          <a:xfrm>
            <a:off x="2950" y="8741375"/>
            <a:ext cx="6887700" cy="3930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SemiBold"/>
                <a:ea typeface="Red Hat Display SemiBold"/>
                <a:cs typeface="Red Hat Display SemiBold"/>
                <a:sym typeface="Red Hat Display SemiBold"/>
              </a:rPr>
              <a:t>Operational</a:t>
            </a:r>
            <a:r>
              <a:rPr lang="en" sz="1200">
                <a:solidFill>
                  <a:schemeClr val="dk1"/>
                </a:solidFill>
                <a:latin typeface="Red Hat Display SemiBold"/>
                <a:ea typeface="Red Hat Display SemiBold"/>
                <a:cs typeface="Red Hat Display SemiBold"/>
                <a:sym typeface="Red Hat Display SemiBold"/>
              </a:rPr>
              <a:t> Sovereignty</a:t>
            </a:r>
            <a:r>
              <a:rPr lang="en" sz="1200">
                <a:solidFill>
                  <a:schemeClr val="dk1"/>
                </a:solidFill>
                <a:latin typeface="Red Hat Display Medium"/>
                <a:ea typeface="Red Hat Display Medium"/>
                <a:cs typeface="Red Hat Display Medium"/>
                <a:sym typeface="Red Hat Display Medium"/>
              </a:rPr>
              <a:t>: </a:t>
            </a:r>
            <a:r>
              <a:rPr lang="en" sz="1200">
                <a:solidFill>
                  <a:schemeClr val="dk1"/>
                </a:solidFill>
                <a:latin typeface="Red Hat Text"/>
                <a:ea typeface="Red Hat Text"/>
                <a:cs typeface="Red Hat Text"/>
                <a:sym typeface="Red Hat Text"/>
              </a:rPr>
              <a:t>Technology and Supply Chain</a:t>
            </a:r>
            <a:endParaRPr sz="1200">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a:solidFill>
                <a:schemeClr val="dk1"/>
              </a:solidFill>
              <a:latin typeface="Red Hat Text"/>
              <a:ea typeface="Red Hat Text"/>
              <a:cs typeface="Red Hat Text"/>
              <a:sym typeface="Red Hat Tex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